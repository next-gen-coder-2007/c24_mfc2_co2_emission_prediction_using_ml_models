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306" r:id="rId3"/>
    <p:sldId id="307" r:id="rId4"/>
    <p:sldId id="305" r:id="rId5"/>
    <p:sldId id="308" r:id="rId6"/>
    <p:sldId id="309" r:id="rId7"/>
    <p:sldId id="312" r:id="rId8"/>
    <p:sldId id="313" r:id="rId9"/>
    <p:sldId id="314" r:id="rId10"/>
    <p:sldId id="315" r:id="rId11"/>
    <p:sldId id="316" r:id="rId12"/>
    <p:sldId id="319" r:id="rId13"/>
    <p:sldId id="321" r:id="rId14"/>
    <p:sldId id="322" r:id="rId15"/>
    <p:sldId id="323" r:id="rId16"/>
    <p:sldId id="317" r:id="rId17"/>
    <p:sldId id="31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03BA0-D7A3-053E-EF9E-2A5498A5464A}" v="3" dt="2025-04-27T06:25:21.082"/>
    <p1510:client id="{46F09AC0-D16D-46D8-B1B7-3D6F16BE860B}" v="3" dt="2025-04-27T11:59:12.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ash B" userId="c810cbed226fe228" providerId="LiveId" clId="{46F09AC0-D16D-46D8-B1B7-3D6F16BE860B}"/>
    <pc:docChg chg="custSel addSld delSld modSld">
      <pc:chgData name="Subash B" userId="c810cbed226fe228" providerId="LiveId" clId="{46F09AC0-D16D-46D8-B1B7-3D6F16BE860B}" dt="2025-04-27T11:59:29.037" v="15" actId="20577"/>
      <pc:docMkLst>
        <pc:docMk/>
      </pc:docMkLst>
      <pc:sldChg chg="modSp mod">
        <pc:chgData name="Subash B" userId="c810cbed226fe228" providerId="LiveId" clId="{46F09AC0-D16D-46D8-B1B7-3D6F16BE860B}" dt="2025-04-27T11:59:29.037" v="15" actId="20577"/>
        <pc:sldMkLst>
          <pc:docMk/>
          <pc:sldMk cId="0" sldId="257"/>
        </pc:sldMkLst>
        <pc:spChg chg="mod">
          <ac:chgData name="Subash B" userId="c810cbed226fe228" providerId="LiveId" clId="{46F09AC0-D16D-46D8-B1B7-3D6F16BE860B}" dt="2025-04-27T11:59:29.037" v="15" actId="20577"/>
          <ac:spMkLst>
            <pc:docMk/>
            <pc:sldMk cId="0" sldId="257"/>
            <ac:spMk id="2" creationId="{221BBF16-ED39-10D1-8C21-204DF61D4D86}"/>
          </ac:spMkLst>
        </pc:spChg>
      </pc:sldChg>
      <pc:sldChg chg="new del">
        <pc:chgData name="Subash B" userId="c810cbed226fe228" providerId="LiveId" clId="{46F09AC0-D16D-46D8-B1B7-3D6F16BE860B}" dt="2025-04-27T11:57:57.541" v="2" actId="47"/>
        <pc:sldMkLst>
          <pc:docMk/>
          <pc:sldMk cId="3689303408" sldId="320"/>
        </pc:sldMkLst>
      </pc:sldChg>
      <pc:sldChg chg="delSp modSp add mod setBg modClrScheme chgLayout">
        <pc:chgData name="Subash B" userId="c810cbed226fe228" providerId="LiveId" clId="{46F09AC0-D16D-46D8-B1B7-3D6F16BE860B}" dt="2025-04-27T11:58:43.011" v="5" actId="26606"/>
        <pc:sldMkLst>
          <pc:docMk/>
          <pc:sldMk cId="757340119" sldId="321"/>
        </pc:sldMkLst>
        <pc:spChg chg="del">
          <ac:chgData name="Subash B" userId="c810cbed226fe228" providerId="LiveId" clId="{46F09AC0-D16D-46D8-B1B7-3D6F16BE860B}" dt="2025-04-27T11:58:43.011" v="5" actId="26606"/>
          <ac:spMkLst>
            <pc:docMk/>
            <pc:sldMk cId="757340119" sldId="321"/>
            <ac:spMk id="17" creationId="{86F6787D-CAE7-CBF9-3B20-2876F4BBCFCE}"/>
          </ac:spMkLst>
        </pc:spChg>
        <pc:spChg chg="del">
          <ac:chgData name="Subash B" userId="c810cbed226fe228" providerId="LiveId" clId="{46F09AC0-D16D-46D8-B1B7-3D6F16BE860B}" dt="2025-04-27T11:58:43.011" v="5" actId="26606"/>
          <ac:spMkLst>
            <pc:docMk/>
            <pc:sldMk cId="757340119" sldId="321"/>
            <ac:spMk id="19" creationId="{72687698-E9D1-64F8-EE48-47EA533BEEBC}"/>
          </ac:spMkLst>
        </pc:spChg>
        <pc:spChg chg="del">
          <ac:chgData name="Subash B" userId="c810cbed226fe228" providerId="LiveId" clId="{46F09AC0-D16D-46D8-B1B7-3D6F16BE860B}" dt="2025-04-27T11:58:43.011" v="5" actId="26606"/>
          <ac:spMkLst>
            <pc:docMk/>
            <pc:sldMk cId="757340119" sldId="321"/>
            <ac:spMk id="21" creationId="{9F30A0B1-9E71-69B6-87D5-72711F6DF6B3}"/>
          </ac:spMkLst>
        </pc:spChg>
        <pc:picChg chg="mod">
          <ac:chgData name="Subash B" userId="c810cbed226fe228" providerId="LiveId" clId="{46F09AC0-D16D-46D8-B1B7-3D6F16BE860B}" dt="2025-04-27T11:58:43.011" v="5" actId="26606"/>
          <ac:picMkLst>
            <pc:docMk/>
            <pc:sldMk cId="757340119" sldId="321"/>
            <ac:picMk id="12" creationId="{53ED44B2-0C1F-7289-0A86-9A945187B9D0}"/>
          </ac:picMkLst>
        </pc:picChg>
        <pc:cxnChg chg="del">
          <ac:chgData name="Subash B" userId="c810cbed226fe228" providerId="LiveId" clId="{46F09AC0-D16D-46D8-B1B7-3D6F16BE860B}" dt="2025-04-27T11:58:43.011" v="5" actId="26606"/>
          <ac:cxnSpMkLst>
            <pc:docMk/>
            <pc:sldMk cId="757340119" sldId="321"/>
            <ac:cxnSpMk id="23" creationId="{4A990B4C-A498-1E3F-D8FD-8ECE46F25832}"/>
          </ac:cxnSpMkLst>
        </pc:cxnChg>
      </pc:sldChg>
      <pc:sldChg chg="delSp modSp add mod setBg modClrScheme chgLayout">
        <pc:chgData name="Subash B" userId="c810cbed226fe228" providerId="LiveId" clId="{46F09AC0-D16D-46D8-B1B7-3D6F16BE860B}" dt="2025-04-27T11:58:59.879" v="7" actId="26606"/>
        <pc:sldMkLst>
          <pc:docMk/>
          <pc:sldMk cId="34222764" sldId="322"/>
        </pc:sldMkLst>
        <pc:spChg chg="del">
          <ac:chgData name="Subash B" userId="c810cbed226fe228" providerId="LiveId" clId="{46F09AC0-D16D-46D8-B1B7-3D6F16BE860B}" dt="2025-04-27T11:58:59.879" v="7" actId="26606"/>
          <ac:spMkLst>
            <pc:docMk/>
            <pc:sldMk cId="34222764" sldId="322"/>
            <ac:spMk id="17" creationId="{99D14836-58F2-5CF5-77AD-5E0A9A1DEBFE}"/>
          </ac:spMkLst>
        </pc:spChg>
        <pc:spChg chg="del">
          <ac:chgData name="Subash B" userId="c810cbed226fe228" providerId="LiveId" clId="{46F09AC0-D16D-46D8-B1B7-3D6F16BE860B}" dt="2025-04-27T11:58:59.879" v="7" actId="26606"/>
          <ac:spMkLst>
            <pc:docMk/>
            <pc:sldMk cId="34222764" sldId="322"/>
            <ac:spMk id="19" creationId="{1A45849C-0D23-D33B-AF62-87EFDF53FA1D}"/>
          </ac:spMkLst>
        </pc:spChg>
        <pc:spChg chg="del">
          <ac:chgData name="Subash B" userId="c810cbed226fe228" providerId="LiveId" clId="{46F09AC0-D16D-46D8-B1B7-3D6F16BE860B}" dt="2025-04-27T11:58:59.879" v="7" actId="26606"/>
          <ac:spMkLst>
            <pc:docMk/>
            <pc:sldMk cId="34222764" sldId="322"/>
            <ac:spMk id="21" creationId="{29F2053F-E9D6-6AED-6DBD-63D9BADA652F}"/>
          </ac:spMkLst>
        </pc:spChg>
        <pc:picChg chg="mod">
          <ac:chgData name="Subash B" userId="c810cbed226fe228" providerId="LiveId" clId="{46F09AC0-D16D-46D8-B1B7-3D6F16BE860B}" dt="2025-04-27T11:58:59.879" v="7" actId="26606"/>
          <ac:picMkLst>
            <pc:docMk/>
            <pc:sldMk cId="34222764" sldId="322"/>
            <ac:picMk id="12" creationId="{1D93D306-9CE4-797F-AC1D-5B3FCA076B52}"/>
          </ac:picMkLst>
        </pc:picChg>
        <pc:cxnChg chg="del">
          <ac:chgData name="Subash B" userId="c810cbed226fe228" providerId="LiveId" clId="{46F09AC0-D16D-46D8-B1B7-3D6F16BE860B}" dt="2025-04-27T11:58:59.879" v="7" actId="26606"/>
          <ac:cxnSpMkLst>
            <pc:docMk/>
            <pc:sldMk cId="34222764" sldId="322"/>
            <ac:cxnSpMk id="23" creationId="{E244E99A-6730-7033-19EA-2641BF8B6CD0}"/>
          </ac:cxnSpMkLst>
        </pc:cxnChg>
      </pc:sldChg>
      <pc:sldChg chg="modSp add">
        <pc:chgData name="Subash B" userId="c810cbed226fe228" providerId="LiveId" clId="{46F09AC0-D16D-46D8-B1B7-3D6F16BE860B}" dt="2025-04-27T11:59:12.335" v="9" actId="14826"/>
        <pc:sldMkLst>
          <pc:docMk/>
          <pc:sldMk cId="1027326897" sldId="323"/>
        </pc:sldMkLst>
        <pc:picChg chg="mod">
          <ac:chgData name="Subash B" userId="c810cbed226fe228" providerId="LiveId" clId="{46F09AC0-D16D-46D8-B1B7-3D6F16BE860B}" dt="2025-04-27T11:59:12.335" v="9" actId="14826"/>
          <ac:picMkLst>
            <pc:docMk/>
            <pc:sldMk cId="1027326897" sldId="323"/>
            <ac:picMk id="12" creationId="{839FB935-1FFC-8703-8D4E-2E41695B08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3083B-9E60-4324-A70B-CB3453326E32}" type="datetimeFigureOut">
              <a:rPr lang="en-IN" smtClean="0"/>
              <a:t>27-04-2025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07642-A58F-4BEF-AC92-8F59C6C60DCA}" type="slidenum">
              <a:rPr lang="en-IN" smtClean="0"/>
              <a:t>‹#›</a:t>
            </a:fld>
            <a:endParaRPr lang="en-IN"/>
          </a:p>
        </p:txBody>
      </p:sp>
    </p:spTree>
    <p:extLst>
      <p:ext uri="{BB962C8B-B14F-4D97-AF65-F5344CB8AC3E}">
        <p14:creationId xmlns:p14="http://schemas.microsoft.com/office/powerpoint/2010/main" val="2054522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4525-D5EC-CDC5-B5D1-A1653892CD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015896-3DC2-2E33-B436-1CEA8EEA99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8BE002-89DA-0FCC-6997-89A0E3991432}"/>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C7889F98-4FCB-4BF6-F987-3085CD0AB4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4F9007-384B-ED9E-FD2E-8C16DA5B6C4E}"/>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410588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682D-D93F-FD95-937A-DD763AE94A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2310F5-E334-9E1D-8A05-410510BB4D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99E544-55C6-FFC5-6559-F1B313E2895C}"/>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F6859F05-4957-1D99-4ABB-2386A5BF56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BF67B8-5795-892A-14EE-7C99FA896E22}"/>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1597454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B317-656C-EAC7-29F7-C2299CB6FC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9630B9-7C31-728F-AD73-D0B160FFAE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1D7330-73A6-B898-A1F0-DB2253040D12}"/>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C99FDEEA-9F85-B4B1-882F-72B5AF970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48A0F5-7C63-5CB1-1B9A-E05BAC8C9A83}"/>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191852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E2E0E-8A02-FA88-492D-6E5BC83E74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5C27D9-BAF0-853B-44CF-492679A4DA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402C38-6374-6B7C-31FB-A6B76B1912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5823F0-D610-AB9F-3191-0149DA23F239}"/>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6" name="Footer Placeholder 5">
            <a:extLst>
              <a:ext uri="{FF2B5EF4-FFF2-40B4-BE49-F238E27FC236}">
                <a16:creationId xmlns:a16="http://schemas.microsoft.com/office/drawing/2014/main" id="{966FD937-A707-4B29-D6D1-60069CF01B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46BA34-F2BF-5B7D-48D1-46B028BF9C0A}"/>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121919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46BE-E6B1-3D42-2212-AE3A206E813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287E59-2EEF-4E4A-2C3E-6054B4674B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261E7B-CD5E-CAA7-1461-9BAFDC32A2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BBC864-71A0-71B5-08F3-FEA1211FC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6C7C43-064B-A2F9-BCA8-CE548AD51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AA14C6-1EA9-BA94-6B0D-85B0D3A899CC}"/>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8" name="Footer Placeholder 7">
            <a:extLst>
              <a:ext uri="{FF2B5EF4-FFF2-40B4-BE49-F238E27FC236}">
                <a16:creationId xmlns:a16="http://schemas.microsoft.com/office/drawing/2014/main" id="{A8532833-BAFC-A3D8-2F6C-E78FB77F9A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F6591C-C498-34F1-2013-D76B757750ED}"/>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359317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9617-257E-ADCA-AC65-31ABABCCA4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6BEA1F-73B8-7D2A-8A4A-22055B1DD8FB}"/>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4" name="Footer Placeholder 3">
            <a:extLst>
              <a:ext uri="{FF2B5EF4-FFF2-40B4-BE49-F238E27FC236}">
                <a16:creationId xmlns:a16="http://schemas.microsoft.com/office/drawing/2014/main" id="{EF50D09E-FEDC-7E5D-910F-ABA496EE00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81B06C-9420-0F41-AE97-18B633165CF0}"/>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2914708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94975A-C13C-0D28-4D05-F42B61E46DB8}"/>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3" name="Footer Placeholder 2">
            <a:extLst>
              <a:ext uri="{FF2B5EF4-FFF2-40B4-BE49-F238E27FC236}">
                <a16:creationId xmlns:a16="http://schemas.microsoft.com/office/drawing/2014/main" id="{C4EA8E07-B170-10D9-8BFA-BED0B5D538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87C724-3E5A-42B2-3623-766F6EF97111}"/>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1505200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50C1-44CF-2D4E-99CE-0D122B33D4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648ED0-41CE-C522-561B-A9DC103F95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4FE752-8B69-8BAA-3C69-446BD6223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6EEE88-325C-FCC2-E3A9-E774ED3D0850}"/>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6" name="Footer Placeholder 5">
            <a:extLst>
              <a:ext uri="{FF2B5EF4-FFF2-40B4-BE49-F238E27FC236}">
                <a16:creationId xmlns:a16="http://schemas.microsoft.com/office/drawing/2014/main" id="{C1FBC966-752A-A670-2F32-C81BAC8BC9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395A87-24A1-6E99-37A7-7D84E8073082}"/>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2318104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8E1F-1150-3B80-F5A4-41B488180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208CA-8317-3B6E-172F-42422D4A43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076961-54F1-204B-F689-C1F56F149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02249-A9B7-098C-A31A-530F9E7F570F}"/>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6" name="Footer Placeholder 5">
            <a:extLst>
              <a:ext uri="{FF2B5EF4-FFF2-40B4-BE49-F238E27FC236}">
                <a16:creationId xmlns:a16="http://schemas.microsoft.com/office/drawing/2014/main" id="{19766578-F037-7F28-6752-944E6FEC7C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454936-FCF5-9CBA-70EE-93E46E1264D4}"/>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22214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B1E59-E0DC-A4E8-4CEF-7DA3796DC6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E6E4E7-A496-C59E-C961-C97A73DEFC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E26E40-E916-9F12-3109-E620A30AB5A3}"/>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08341711-0173-D8A3-1004-0AA1B2C448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F5D38A-2870-A58D-DE86-B42D9ED5EB2A}"/>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893402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6A37C8-556B-A35F-31DB-F35D0599E2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2E6D7E-1154-3BCE-E9B9-0085D38C86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CA972-72AC-2DA5-6FAF-17C337FD2394}"/>
              </a:ext>
            </a:extLst>
          </p:cNvPr>
          <p:cNvSpPr>
            <a:spLocks noGrp="1"/>
          </p:cNvSpPr>
          <p:nvPr>
            <p:ph type="dt" sz="half" idx="10"/>
          </p:nvPr>
        </p:nvSpPr>
        <p:spPr/>
        <p:txBody>
          <a:body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E1ACB4B4-73E8-986B-154F-A3AFA1732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92C2F-E518-FE50-88FB-986257D3505F}"/>
              </a:ext>
            </a:extLst>
          </p:cNvPr>
          <p:cNvSpPr>
            <a:spLocks noGrp="1"/>
          </p:cNvSpPr>
          <p:nvPr>
            <p:ph type="sldNum" sz="quarter" idx="12"/>
          </p:nvPr>
        </p:nvSpPr>
        <p:spPr/>
        <p:txBody>
          <a:bodyPr/>
          <a:lstStyle/>
          <a:p>
            <a:fld id="{DD68D9C3-61AC-4408-B6A9-86C85D0021D6}" type="slidenum">
              <a:rPr lang="en-IN" smtClean="0"/>
              <a:t>‹#›</a:t>
            </a:fld>
            <a:endParaRPr lang="en-IN"/>
          </a:p>
        </p:txBody>
      </p:sp>
    </p:spTree>
    <p:extLst>
      <p:ext uri="{BB962C8B-B14F-4D97-AF65-F5344CB8AC3E}">
        <p14:creationId xmlns:p14="http://schemas.microsoft.com/office/powerpoint/2010/main" val="3334671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7" name="Google Shape;27;p4"/>
          <p:cNvSpPr/>
          <p:nvPr/>
        </p:nvSpPr>
        <p:spPr>
          <a:xfrm>
            <a:off x="135400" y="141600"/>
            <a:ext cx="11921200" cy="65748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 name="Google Shape;28;p4"/>
          <p:cNvSpPr txBox="1">
            <a:spLocks noGrp="1"/>
          </p:cNvSpPr>
          <p:nvPr>
            <p:ph type="subTitle" idx="1"/>
          </p:nvPr>
        </p:nvSpPr>
        <p:spPr>
          <a:xfrm>
            <a:off x="828767" y="1637916"/>
            <a:ext cx="10504400" cy="48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29" name="Google Shape;29;p4"/>
          <p:cNvSpPr txBox="1">
            <a:spLocks noGrp="1"/>
          </p:cNvSpPr>
          <p:nvPr>
            <p:ph type="title"/>
          </p:nvPr>
        </p:nvSpPr>
        <p:spPr>
          <a:xfrm>
            <a:off x="833733" y="421084"/>
            <a:ext cx="10272000" cy="9436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42818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C8CDE-2BFC-402D-25C2-66DFC22467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A291E8-ED0A-42A1-7FAF-74A3E4621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5464ED-E247-7A37-CA39-195CA437C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C8FD6E-9F21-403A-9DA3-520674894B94}" type="datetimeFigureOut">
              <a:rPr lang="en-IN" smtClean="0"/>
              <a:t>27-04-2025</a:t>
            </a:fld>
            <a:endParaRPr lang="en-IN"/>
          </a:p>
        </p:txBody>
      </p:sp>
      <p:sp>
        <p:nvSpPr>
          <p:cNvPr id="5" name="Footer Placeholder 4">
            <a:extLst>
              <a:ext uri="{FF2B5EF4-FFF2-40B4-BE49-F238E27FC236}">
                <a16:creationId xmlns:a16="http://schemas.microsoft.com/office/drawing/2014/main" id="{EDF753D1-44DD-620C-4695-7DB59D7F0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1981F5-C859-78B4-C928-E4252C9C9E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68D9C3-61AC-4408-B6A9-86C85D0021D6}" type="slidenum">
              <a:rPr lang="en-IN" smtClean="0"/>
              <a:t>‹#›</a:t>
            </a:fld>
            <a:endParaRPr lang="en-IN"/>
          </a:p>
        </p:txBody>
      </p:sp>
    </p:spTree>
    <p:extLst>
      <p:ext uri="{BB962C8B-B14F-4D97-AF65-F5344CB8AC3E}">
        <p14:creationId xmlns:p14="http://schemas.microsoft.com/office/powerpoint/2010/main" val="1906974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960000" y="2285948"/>
            <a:ext cx="10272000" cy="1809571"/>
          </a:xfrm>
          <a:prstGeom prst="rect">
            <a:avLst/>
          </a:prstGeom>
        </p:spPr>
        <p:txBody>
          <a:bodyPr spcFirstLastPara="1" vert="horz" wrap="square" lIns="121900" tIns="121900" rIns="121900" bIns="121900" rtlCol="0" anchor="t" anchorCtr="0">
            <a:noAutofit/>
          </a:bodyPr>
          <a:lstStyle/>
          <a:p>
            <a:pPr algn="ctr"/>
            <a:r>
              <a:rPr lang="en-US"/>
              <a:t>CO2 emission</a:t>
            </a:r>
            <a:r>
              <a:rPr lang="en-US" b="0"/>
              <a:t> </a:t>
            </a:r>
            <a:r>
              <a:rPr lang="en-US"/>
              <a:t>prediction </a:t>
            </a:r>
            <a:r>
              <a:rPr lang="en-US" b="0"/>
              <a:t>using machine and deep learning techniques</a:t>
            </a:r>
            <a:endParaRPr b="0"/>
          </a:p>
        </p:txBody>
      </p:sp>
      <p:sp>
        <p:nvSpPr>
          <p:cNvPr id="466" name="Google Shape;466;p65"/>
          <p:cNvSpPr txBox="1">
            <a:spLocks noGrp="1"/>
          </p:cNvSpPr>
          <p:nvPr>
            <p:ph type="subTitle" idx="1"/>
          </p:nvPr>
        </p:nvSpPr>
        <p:spPr>
          <a:xfrm>
            <a:off x="389856" y="4437889"/>
            <a:ext cx="5316001" cy="1934464"/>
          </a:xfrm>
          <a:prstGeom prst="rect">
            <a:avLst/>
          </a:prstGeom>
        </p:spPr>
        <p:txBody>
          <a:bodyPr spcFirstLastPara="1" vert="horz" wrap="square" lIns="121900" tIns="121900" rIns="121900" bIns="121900" rtlCol="0" anchor="t" anchorCtr="0">
            <a:noAutofit/>
          </a:bodyPr>
          <a:lstStyle/>
          <a:p>
            <a:pPr marL="0" indent="0">
              <a:buClr>
                <a:schemeClr val="dk1"/>
              </a:buClr>
              <a:buSzPts val="1100"/>
            </a:pPr>
            <a:r>
              <a:rPr lang="en-US" b="1" dirty="0"/>
              <a:t>SUBJECT NAME: </a:t>
            </a:r>
          </a:p>
          <a:p>
            <a:pPr marL="0" indent="0">
              <a:buClr>
                <a:schemeClr val="dk1"/>
              </a:buClr>
              <a:buSzPts val="1100"/>
            </a:pPr>
            <a:r>
              <a:rPr lang="en-US" dirty="0"/>
              <a:t>Mathematics for computing 2 and</a:t>
            </a:r>
          </a:p>
          <a:p>
            <a:pPr marL="0" indent="0">
              <a:buClr>
                <a:schemeClr val="dk1"/>
              </a:buClr>
              <a:buSzPts val="1100"/>
            </a:pPr>
            <a:r>
              <a:rPr lang="en-US" dirty="0"/>
              <a:t>Elements of computing -2 </a:t>
            </a:r>
          </a:p>
          <a:p>
            <a:pPr marL="0" indent="0">
              <a:buClr>
                <a:schemeClr val="dk1"/>
              </a:buClr>
              <a:buSzPts val="1100"/>
            </a:pPr>
            <a:endParaRPr lang="en-US" dirty="0"/>
          </a:p>
          <a:p>
            <a:pPr marL="0" indent="0">
              <a:buClr>
                <a:schemeClr val="dk1"/>
              </a:buClr>
              <a:buSzPts val="1100"/>
            </a:pPr>
            <a:r>
              <a:rPr lang="en-US" b="1" dirty="0"/>
              <a:t>SUBJECT CODE:</a:t>
            </a:r>
          </a:p>
          <a:p>
            <a:pPr marL="0" indent="0">
              <a:buClr>
                <a:schemeClr val="dk1"/>
              </a:buClr>
              <a:buSzPts val="1100"/>
            </a:pPr>
            <a:r>
              <a:rPr lang="en-US" dirty="0"/>
              <a:t>22MAT122, 22AIE113 </a:t>
            </a:r>
          </a:p>
        </p:txBody>
      </p:sp>
      <p:pic>
        <p:nvPicPr>
          <p:cNvPr id="1026" name="Picture 2" descr="Amrita Vishwa Vidyapeetham Logo PNG Vector (SVG) Free Download">
            <a:extLst>
              <a:ext uri="{FF2B5EF4-FFF2-40B4-BE49-F238E27FC236}">
                <a16:creationId xmlns:a16="http://schemas.microsoft.com/office/drawing/2014/main" id="{2E5FD126-3BE2-7E99-03E0-69259DE0B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3418" y="485647"/>
            <a:ext cx="6565165" cy="145793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466;p65">
            <a:extLst>
              <a:ext uri="{FF2B5EF4-FFF2-40B4-BE49-F238E27FC236}">
                <a16:creationId xmlns:a16="http://schemas.microsoft.com/office/drawing/2014/main" id="{221BBF16-ED39-10D1-8C21-204DF61D4D86}"/>
              </a:ext>
            </a:extLst>
          </p:cNvPr>
          <p:cNvSpPr txBox="1">
            <a:spLocks/>
          </p:cNvSpPr>
          <p:nvPr/>
        </p:nvSpPr>
        <p:spPr>
          <a:xfrm>
            <a:off x="7705345" y="4437889"/>
            <a:ext cx="4096801" cy="193446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1867" b="1" dirty="0"/>
              <a:t>Group 24:</a:t>
            </a:r>
          </a:p>
          <a:p>
            <a:pPr marL="228594" indent="-228594">
              <a:buSzPts val="1100"/>
              <a:buFont typeface="Wingdings" panose="05000000000000000000" pitchFamily="2" charset="2"/>
              <a:buChar char="Ø"/>
            </a:pPr>
            <a:r>
              <a:rPr lang="en-US" sz="1867" dirty="0" err="1"/>
              <a:t>Cibikumar</a:t>
            </a:r>
            <a:r>
              <a:rPr lang="en-US" sz="1867" dirty="0"/>
              <a:t> (CB.SC.UAIE24212)</a:t>
            </a:r>
          </a:p>
          <a:p>
            <a:pPr marL="228594" indent="-228594">
              <a:buSzPts val="1100"/>
              <a:buFont typeface="Wingdings" panose="05000000000000000000" pitchFamily="2" charset="2"/>
              <a:buChar char="Ø"/>
            </a:pPr>
            <a:r>
              <a:rPr lang="en-US" sz="1867" dirty="0"/>
              <a:t>Naveen K (CB.SC.U4AIE24235)</a:t>
            </a:r>
          </a:p>
          <a:p>
            <a:pPr marL="228594" indent="-228594">
              <a:buSzPts val="1100"/>
              <a:buFont typeface="Wingdings" panose="05000000000000000000" pitchFamily="2" charset="2"/>
              <a:buChar char="Ø"/>
            </a:pPr>
            <a:r>
              <a:rPr lang="en-US" sz="1867" dirty="0"/>
              <a:t>Subash B (CB.SC.U4AIE24254)</a:t>
            </a:r>
          </a:p>
          <a:p>
            <a:pPr marL="228594" indent="-228594">
              <a:buSzPts val="1100"/>
              <a:buFont typeface="Wingdings" panose="05000000000000000000" pitchFamily="2" charset="2"/>
              <a:buChar char="Ø"/>
            </a:pPr>
            <a:r>
              <a:rPr lang="en-US" sz="1867" dirty="0"/>
              <a:t>T Manas (CB.SC.U4AIE24257)</a:t>
            </a: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204165F-8602-84D6-F6DF-D4458CF4F7E6}"/>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a:spcBef>
                <a:spcPct val="0"/>
              </a:spcBef>
            </a:pPr>
            <a:r>
              <a:rPr lang="en-US" b="1" kern="1200">
                <a:solidFill>
                  <a:srgbClr val="FFFFFF"/>
                </a:solidFill>
                <a:latin typeface="+mj-lt"/>
                <a:ea typeface="+mj-ea"/>
                <a:cs typeface="+mj-cs"/>
              </a:rPr>
              <a:t>ABSTRACT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Subtitle 1">
            <a:extLst>
              <a:ext uri="{FF2B5EF4-FFF2-40B4-BE49-F238E27FC236}">
                <a16:creationId xmlns:a16="http://schemas.microsoft.com/office/drawing/2014/main" id="{4EF308E7-101C-D508-05DB-621F526FFE78}"/>
              </a:ext>
            </a:extLst>
          </p:cNvPr>
          <p:cNvSpPr>
            <a:spLocks noGrp="1"/>
          </p:cNvSpPr>
          <p:nvPr>
            <p:ph type="subTitle" idx="1"/>
          </p:nvPr>
        </p:nvSpPr>
        <p:spPr>
          <a:xfrm>
            <a:off x="4447308" y="591344"/>
            <a:ext cx="6906491" cy="5585619"/>
          </a:xfrm>
        </p:spPr>
        <p:txBody>
          <a:bodyPr spcFirstLastPara="1" vert="horz" wrap="square" lIns="91440" tIns="45720" rIns="91440" bIns="45720" rtlCol="0" anchor="ctr" anchorCtr="0">
            <a:noAutofit/>
          </a:bodyPr>
          <a:lstStyle/>
          <a:p>
            <a:pPr marL="0" indent="0">
              <a:lnSpc>
                <a:spcPct val="90000"/>
              </a:lnSpc>
              <a:spcAft>
                <a:spcPts val="600"/>
              </a:spcAft>
            </a:pPr>
            <a:r>
              <a:rPr lang="en-US" sz="1800" dirty="0"/>
              <a:t>The rapid growth of computational technologies has led to increased energy consumption and carbon emissions, raising concerns about environmental sustainability. This project explores Green Computing by leveraging Deep Learning and Machine Learning techniques to predict CO₂ emissions across various sectors. Using a cleaned monthly sector-wise dataset, we implemented multiple predictive models, including Long Short Term Memory (LSTM), Ridge Regression, </a:t>
            </a:r>
            <a:r>
              <a:rPr lang="en-US" sz="1800" dirty="0" err="1"/>
              <a:t>XGBoost</a:t>
            </a:r>
            <a:r>
              <a:rPr lang="en-US" sz="1800" dirty="0"/>
              <a:t>, and </a:t>
            </a:r>
            <a:r>
              <a:rPr lang="en-US" sz="1800" dirty="0" err="1"/>
              <a:t>LightGBM</a:t>
            </a:r>
            <a:r>
              <a:rPr lang="en-US" sz="1800" dirty="0"/>
              <a:t>. The dataset was preprocessed through feature engineering, normalization, and lag feature generation, ensuring robust time-series forecasting. LSTM, a recurrent neural network, was used to capture temporal dependencies, while traditional regression, </a:t>
            </a:r>
            <a:r>
              <a:rPr lang="en-US" sz="1800" dirty="0" err="1"/>
              <a:t>XGBoost</a:t>
            </a:r>
            <a:r>
              <a:rPr lang="en-US" sz="1800" dirty="0"/>
              <a:t>, and </a:t>
            </a:r>
            <a:r>
              <a:rPr lang="en-US" sz="1800" dirty="0" err="1"/>
              <a:t>LightGBM</a:t>
            </a:r>
            <a:r>
              <a:rPr lang="en-US" sz="1800" dirty="0"/>
              <a:t> provided efficient and interpretable alternatives. The models were evaluated using performance metrics such as Root Mean Squared Error (RMSE), Mean Absolute Error (MAE), Mean Squared Error (MSE), and R² </a:t>
            </a:r>
            <a:r>
              <a:rPr lang="en-US" sz="1800" dirty="0" err="1"/>
              <a:t>Score.Our</a:t>
            </a:r>
            <a:r>
              <a:rPr lang="en-US" sz="1800" dirty="0"/>
              <a:t> results demonstrate the effectiveness of machine learning in forecasting CO₂ emissions, enabling policymakers and industries to make informed decisions for sustainable energy usage. This project highlights the role of AI-driven solutions in reducing environmental impact and promoting energy-efficient computing practices.</a:t>
            </a:r>
            <a:endParaRPr lang="en-US" sz="1800" dirty="0">
              <a:ea typeface="Calibri" panose="020F0502020204030204"/>
              <a:cs typeface="Calibri" panose="020F0502020204030204"/>
            </a:endParaRPr>
          </a:p>
          <a:p>
            <a:pPr marL="0" indent="0">
              <a:lnSpc>
                <a:spcPct val="90000"/>
              </a:lnSpc>
              <a:spcAft>
                <a:spcPts val="600"/>
              </a:spcAft>
            </a:pPr>
            <a:endParaRPr lang="en-US" sz="1800" dirty="0">
              <a:ea typeface="Calibri" panose="020F0502020204030204"/>
              <a:cs typeface="Calibri" panose="020F0502020204030204"/>
            </a:endParaRPr>
          </a:p>
        </p:txBody>
      </p:sp>
    </p:spTree>
    <p:extLst>
      <p:ext uri="{BB962C8B-B14F-4D97-AF65-F5344CB8AC3E}">
        <p14:creationId xmlns:p14="http://schemas.microsoft.com/office/powerpoint/2010/main" val="306891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8C72160F-FE7B-8024-3BCE-1645D0458FE7}"/>
              </a:ext>
            </a:extLst>
          </p:cNvPr>
          <p:cNvSpPr>
            <a:spLocks noGrp="1"/>
          </p:cNvSpPr>
          <p:nvPr>
            <p:ph type="title"/>
          </p:nvPr>
        </p:nvSpPr>
        <p:spPr>
          <a:xfrm>
            <a:off x="838199" y="1068891"/>
            <a:ext cx="4259731" cy="1985085"/>
          </a:xfrm>
        </p:spPr>
        <p:txBody>
          <a:bodyPr vert="horz" lIns="91440" tIns="45720" rIns="91440" bIns="45720" rtlCol="0" anchor="b">
            <a:normAutofit/>
          </a:bodyPr>
          <a:lstStyle/>
          <a:p>
            <a:pPr algn="ctr">
              <a:spcBef>
                <a:spcPct val="0"/>
              </a:spcBef>
            </a:pPr>
            <a:r>
              <a:rPr lang="en-US" b="1"/>
              <a:t>DATASET OVERVIEW</a:t>
            </a:r>
          </a:p>
        </p:txBody>
      </p:sp>
      <p:sp>
        <p:nvSpPr>
          <p:cNvPr id="13" name="Freeform: Shape 12">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GDPR is lessening CO2 emissions by 360 ...">
            <a:extLst>
              <a:ext uri="{FF2B5EF4-FFF2-40B4-BE49-F238E27FC236}">
                <a16:creationId xmlns:a16="http://schemas.microsoft.com/office/drawing/2014/main" id="{E67FCEA1-7E0F-65E6-B817-69CBDE40AD9F}"/>
              </a:ext>
            </a:extLst>
          </p:cNvPr>
          <p:cNvPicPr>
            <a:picLocks noChangeAspect="1"/>
          </p:cNvPicPr>
          <p:nvPr/>
        </p:nvPicPr>
        <p:blipFill>
          <a:blip r:embed="rId2"/>
          <a:srcRect t="2962" r="-2" b="1046"/>
          <a:stretch/>
        </p:blipFill>
        <p:spPr>
          <a:xfrm>
            <a:off x="1049617" y="3555468"/>
            <a:ext cx="3836894" cy="2450885"/>
          </a:xfrm>
          <a:prstGeom prst="rect">
            <a:avLst/>
          </a:prstGeom>
        </p:spPr>
      </p:pic>
      <p:sp>
        <p:nvSpPr>
          <p:cNvPr id="15"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9" y="590420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1">
            <a:extLst>
              <a:ext uri="{FF2B5EF4-FFF2-40B4-BE49-F238E27FC236}">
                <a16:creationId xmlns:a16="http://schemas.microsoft.com/office/drawing/2014/main" id="{B2532EF2-9377-D9BB-093D-FE7F65D2EFB3}"/>
              </a:ext>
            </a:extLst>
          </p:cNvPr>
          <p:cNvSpPr>
            <a:spLocks noGrp="1"/>
          </p:cNvSpPr>
          <p:nvPr>
            <p:ph type="subTitle" idx="1"/>
          </p:nvPr>
        </p:nvSpPr>
        <p:spPr>
          <a:xfrm>
            <a:off x="6586415" y="723153"/>
            <a:ext cx="4555782" cy="5392482"/>
          </a:xfrm>
        </p:spPr>
        <p:txBody>
          <a:bodyPr vert="horz" lIns="91440" tIns="45720" rIns="91440" bIns="45720" rtlCol="0" anchor="ctr">
            <a:normAutofit/>
          </a:bodyPr>
          <a:lstStyle/>
          <a:p>
            <a:pPr>
              <a:lnSpc>
                <a:spcPct val="90000"/>
              </a:lnSpc>
              <a:spcAft>
                <a:spcPts val="600"/>
              </a:spcAft>
              <a:buFont typeface="Arial" panose="020B0604020202020204" pitchFamily="34" charset="0"/>
              <a:buChar char="•"/>
            </a:pPr>
            <a:r>
              <a:rPr lang="en-US" sz="1400"/>
              <a:t>The dataset contains 523 rows and 10 columns.</a:t>
            </a:r>
            <a:endParaRPr lang="en-US" sz="1400">
              <a:ea typeface="Calibri"/>
              <a:cs typeface="Calibri"/>
            </a:endParaRPr>
          </a:p>
          <a:p>
            <a:pPr>
              <a:lnSpc>
                <a:spcPct val="90000"/>
              </a:lnSpc>
              <a:spcAft>
                <a:spcPts val="600"/>
              </a:spcAft>
              <a:buFont typeface="Arial" panose="020B0604020202020204" pitchFamily="34" charset="0"/>
              <a:buChar char="•"/>
            </a:pPr>
            <a:r>
              <a:rPr lang="en-US" sz="1400"/>
              <a:t>The data spans from January 1973 onward.</a:t>
            </a:r>
            <a:endParaRPr lang="en-US" sz="1400">
              <a:ea typeface="Calibri"/>
              <a:cs typeface="Calibri"/>
            </a:endParaRPr>
          </a:p>
          <a:p>
            <a:pPr>
              <a:lnSpc>
                <a:spcPct val="90000"/>
              </a:lnSpc>
              <a:spcAft>
                <a:spcPts val="600"/>
              </a:spcAft>
              <a:buFont typeface="Arial" panose="020B0604020202020204" pitchFamily="34" charset="0"/>
              <a:buChar char="•"/>
            </a:pPr>
            <a:r>
              <a:rPr lang="en-US" sz="1400"/>
              <a:t>It records monthly CO₂ emissions from different energy sources in the electric power sector.</a:t>
            </a:r>
            <a:endParaRPr lang="en-US" sz="1400">
              <a:ea typeface="Calibri"/>
              <a:cs typeface="Calibri"/>
            </a:endParaRPr>
          </a:p>
          <a:p>
            <a:pPr marL="186055">
              <a:lnSpc>
                <a:spcPct val="90000"/>
              </a:lnSpc>
              <a:spcAft>
                <a:spcPts val="600"/>
              </a:spcAft>
              <a:buFont typeface="Arial" panose="020B0604020202020204" pitchFamily="34" charset="0"/>
              <a:buChar char="•"/>
            </a:pPr>
            <a:r>
              <a:rPr lang="en-US" sz="1400" b="1"/>
              <a:t>Columns</a:t>
            </a:r>
            <a:endParaRPr lang="en-US" sz="1400" b="1">
              <a:ea typeface="Calibri"/>
              <a:cs typeface="Calibri"/>
            </a:endParaRPr>
          </a:p>
          <a:p>
            <a:pPr marL="414655">
              <a:lnSpc>
                <a:spcPct val="90000"/>
              </a:lnSpc>
              <a:spcAft>
                <a:spcPts val="600"/>
              </a:spcAft>
              <a:buFont typeface="Arial" panose="020B0604020202020204" pitchFamily="34" charset="0"/>
              <a:buChar char="•"/>
            </a:pPr>
            <a:r>
              <a:rPr lang="en-US" sz="1400"/>
              <a:t>Date,</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Coal Electric Power Sector CO₂ Emissions, </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Oil Electric Power Sector CO₂ Emissions, </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Geothermal Energy Electric Power Sector CO₂ Emissions, </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Natural Gas Electric Power Sector CO₂ Emissions,</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Non-Biomass Waste Electric Power Sector CO₂ Emissions,</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Petroleum Coke Electric Power Sector CO₂ Emissions,</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Petroleum Electric Power Sector CO₂ Emissions,</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Residual Fuel Oil Electric Power Sector CO₂ Emissions</a:t>
            </a:r>
            <a:endParaRPr lang="en-US" sz="1400">
              <a:ea typeface="Calibri"/>
              <a:cs typeface="Calibri"/>
            </a:endParaRPr>
          </a:p>
          <a:p>
            <a:pPr marL="414655">
              <a:lnSpc>
                <a:spcPct val="90000"/>
              </a:lnSpc>
              <a:spcAft>
                <a:spcPts val="600"/>
              </a:spcAft>
              <a:buFont typeface="Arial" panose="020B0604020202020204" pitchFamily="34" charset="0"/>
              <a:buChar char="•"/>
            </a:pPr>
            <a:r>
              <a:rPr lang="en-US" sz="1400"/>
              <a:t>Total Energy Electric Power Sector CO₂ Emissions</a:t>
            </a:r>
            <a:endParaRPr lang="en-US" sz="1400">
              <a:ea typeface="Calibri"/>
              <a:cs typeface="Calibri"/>
            </a:endParaRPr>
          </a:p>
          <a:p>
            <a:pPr marL="186055">
              <a:lnSpc>
                <a:spcPct val="90000"/>
              </a:lnSpc>
              <a:spcAft>
                <a:spcPts val="600"/>
              </a:spcAft>
              <a:buFont typeface="Arial" panose="020B0604020202020204" pitchFamily="34" charset="0"/>
              <a:buChar char="•"/>
            </a:pPr>
            <a:r>
              <a:rPr lang="en-US" sz="1400" b="1"/>
              <a:t>Source</a:t>
            </a:r>
            <a:endParaRPr lang="en-US" sz="1400" b="1">
              <a:ea typeface="Calibri"/>
              <a:cs typeface="Calibri"/>
            </a:endParaRPr>
          </a:p>
          <a:p>
            <a:pPr marL="414655">
              <a:lnSpc>
                <a:spcPct val="90000"/>
              </a:lnSpc>
              <a:spcAft>
                <a:spcPts val="600"/>
              </a:spcAft>
              <a:buFont typeface="Arial" panose="020B0604020202020204" pitchFamily="34" charset="0"/>
              <a:buChar char="•"/>
            </a:pPr>
            <a:r>
              <a:rPr lang="en-US" sz="1400"/>
              <a:t>Kaggle</a:t>
            </a:r>
            <a:endParaRPr lang="en-US" sz="1400">
              <a:ea typeface="Calibri"/>
              <a:cs typeface="Calibri"/>
            </a:endParaRPr>
          </a:p>
          <a:p>
            <a:pPr>
              <a:lnSpc>
                <a:spcPct val="90000"/>
              </a:lnSpc>
              <a:spcAft>
                <a:spcPts val="600"/>
              </a:spcAft>
              <a:buFont typeface="Arial" panose="020B0604020202020204" pitchFamily="34" charset="0"/>
              <a:buChar char="•"/>
            </a:pPr>
            <a:endParaRPr lang="en-US" sz="1400"/>
          </a:p>
        </p:txBody>
      </p:sp>
    </p:spTree>
    <p:extLst>
      <p:ext uri="{BB962C8B-B14F-4D97-AF65-F5344CB8AC3E}">
        <p14:creationId xmlns:p14="http://schemas.microsoft.com/office/powerpoint/2010/main" val="178014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FE877B2-7615-1B0E-3014-F4A9B9C82806}"/>
              </a:ext>
            </a:extLst>
          </p:cNvPr>
          <p:cNvSpPr>
            <a:spLocks noGrp="1"/>
          </p:cNvSpPr>
          <p:nvPr>
            <p:ph type="title"/>
          </p:nvPr>
        </p:nvSpPr>
        <p:spPr>
          <a:xfrm>
            <a:off x="795528" y="386930"/>
            <a:ext cx="10141799" cy="1300554"/>
          </a:xfrm>
        </p:spPr>
        <p:txBody>
          <a:bodyPr vert="horz" lIns="91440" tIns="45720" rIns="91440" bIns="45720" rtlCol="0" anchor="b">
            <a:normAutofit/>
          </a:bodyPr>
          <a:lstStyle/>
          <a:p>
            <a:pPr>
              <a:spcBef>
                <a:spcPct val="0"/>
              </a:spcBef>
            </a:pPr>
            <a:r>
              <a:rPr lang="en-US" sz="4800" b="1" kern="1200">
                <a:solidFill>
                  <a:schemeClr val="tx1"/>
                </a:solidFill>
                <a:latin typeface="+mj-lt"/>
                <a:ea typeface="+mj-ea"/>
                <a:cs typeface="+mj-cs"/>
              </a:rPr>
              <a:t>OBJECTIVE</a:t>
            </a:r>
          </a:p>
        </p:txBody>
      </p:sp>
      <p:sp>
        <p:nvSpPr>
          <p:cNvPr id="26" name="Rectangle 25">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B8D75B5-E026-8B0D-5470-FCBC25069F44}"/>
              </a:ext>
            </a:extLst>
          </p:cNvPr>
          <p:cNvPicPr>
            <a:picLocks noChangeAspect="1"/>
          </p:cNvPicPr>
          <p:nvPr/>
        </p:nvPicPr>
        <p:blipFill>
          <a:blip r:embed="rId2"/>
          <a:stretch>
            <a:fillRect/>
          </a:stretch>
        </p:blipFill>
        <p:spPr>
          <a:xfrm>
            <a:off x="635295" y="3338906"/>
            <a:ext cx="5150277" cy="2085861"/>
          </a:xfrm>
          <a:prstGeom prst="rect">
            <a:avLst/>
          </a:prstGeom>
        </p:spPr>
      </p:pic>
      <p:sp>
        <p:nvSpPr>
          <p:cNvPr id="2" name="Subtitle 1">
            <a:extLst>
              <a:ext uri="{FF2B5EF4-FFF2-40B4-BE49-F238E27FC236}">
                <a16:creationId xmlns:a16="http://schemas.microsoft.com/office/drawing/2014/main" id="{AD0E4D88-A1CA-2B6E-B468-8A204E1CB9CC}"/>
              </a:ext>
            </a:extLst>
          </p:cNvPr>
          <p:cNvSpPr>
            <a:spLocks noGrp="1"/>
          </p:cNvSpPr>
          <p:nvPr>
            <p:ph type="subTitle" idx="1"/>
          </p:nvPr>
        </p:nvSpPr>
        <p:spPr>
          <a:xfrm>
            <a:off x="6406429" y="2599509"/>
            <a:ext cx="4530898" cy="3639450"/>
          </a:xfrm>
        </p:spPr>
        <p:txBody>
          <a:bodyPr vert="horz" lIns="91440" tIns="45720" rIns="91440" bIns="45720" rtlCol="0" anchor="ctr">
            <a:normAutofit/>
          </a:bodyPr>
          <a:lstStyle/>
          <a:p>
            <a:pPr>
              <a:lnSpc>
                <a:spcPct val="90000"/>
              </a:lnSpc>
              <a:spcAft>
                <a:spcPts val="600"/>
              </a:spcAft>
              <a:buFont typeface="Arial" panose="020B0604020202020204" pitchFamily="34" charset="0"/>
              <a:buChar char="•"/>
            </a:pPr>
            <a:r>
              <a:rPr lang="en-US" sz="1400"/>
              <a:t>The primary objective of this project is to analyze and forecast monthly CO₂ emissions based on fuel-specific emissions data using advanced machine learning techniques. This includes:</a:t>
            </a:r>
          </a:p>
          <a:p>
            <a:pPr>
              <a:lnSpc>
                <a:spcPct val="90000"/>
              </a:lnSpc>
              <a:spcAft>
                <a:spcPts val="600"/>
              </a:spcAft>
              <a:buFont typeface="Arial" panose="020B0604020202020204" pitchFamily="34" charset="0"/>
              <a:buChar char="•"/>
            </a:pPr>
            <a:r>
              <a:rPr lang="en-US" sz="1400" b="1"/>
              <a:t>Identifying key fuel contributors</a:t>
            </a:r>
            <a:r>
              <a:rPr lang="en-US" sz="1400"/>
              <a:t> to total CO₂ emissions.</a:t>
            </a:r>
          </a:p>
          <a:p>
            <a:pPr>
              <a:lnSpc>
                <a:spcPct val="90000"/>
              </a:lnSpc>
              <a:spcAft>
                <a:spcPts val="600"/>
              </a:spcAft>
              <a:buFont typeface="Arial" panose="020B0604020202020204" pitchFamily="34" charset="0"/>
              <a:buChar char="•"/>
            </a:pPr>
            <a:r>
              <a:rPr lang="en-US" sz="1400" b="1"/>
              <a:t>Predicting total CO₂ emissions</a:t>
            </a:r>
            <a:r>
              <a:rPr lang="en-US" sz="1400"/>
              <a:t> from individual sectoral emissions (e.g., natural gas, coal, petroleum).</a:t>
            </a:r>
          </a:p>
          <a:p>
            <a:pPr>
              <a:lnSpc>
                <a:spcPct val="90000"/>
              </a:lnSpc>
              <a:spcAft>
                <a:spcPts val="600"/>
              </a:spcAft>
              <a:buFont typeface="Arial" panose="020B0604020202020204" pitchFamily="34" charset="0"/>
              <a:buChar char="•"/>
            </a:pPr>
            <a:r>
              <a:rPr lang="en-US" sz="1400" b="1"/>
              <a:t>Forecasting future emissions trends</a:t>
            </a:r>
            <a:r>
              <a:rPr lang="en-US" sz="1400"/>
              <a:t> using temporal patterns in historical monthly data.</a:t>
            </a:r>
          </a:p>
          <a:p>
            <a:pPr>
              <a:lnSpc>
                <a:spcPct val="90000"/>
              </a:lnSpc>
              <a:spcAft>
                <a:spcPts val="600"/>
              </a:spcAft>
              <a:buFont typeface="Arial" panose="020B0604020202020204" pitchFamily="34" charset="0"/>
              <a:buChar char="•"/>
            </a:pPr>
            <a:r>
              <a:rPr lang="en-US" sz="1400" b="1"/>
              <a:t>Comparing model performances</a:t>
            </a:r>
            <a:r>
              <a:rPr lang="en-US" sz="1400"/>
              <a:t> (MAE, RMSE, R²) across multiple regression and time-series models such as Linear Regression, LSTM, XGBoost, LightGBM, and SVM.</a:t>
            </a:r>
          </a:p>
          <a:p>
            <a:pPr>
              <a:lnSpc>
                <a:spcPct val="90000"/>
              </a:lnSpc>
              <a:spcAft>
                <a:spcPts val="600"/>
              </a:spcAft>
              <a:buFont typeface="Arial" panose="020B0604020202020204" pitchFamily="34" charset="0"/>
              <a:buChar char="•"/>
            </a:pPr>
            <a:r>
              <a:rPr lang="en-US" sz="1400" b="1"/>
              <a:t>Recommending optimal models</a:t>
            </a:r>
            <a:r>
              <a:rPr lang="en-US" sz="1400"/>
              <a:t> for accurate emission forecasting to aid in environmental planning and policy-making.</a:t>
            </a:r>
          </a:p>
          <a:p>
            <a:pPr>
              <a:lnSpc>
                <a:spcPct val="90000"/>
              </a:lnSpc>
              <a:spcAft>
                <a:spcPts val="600"/>
              </a:spcAft>
              <a:buFont typeface="Arial" panose="020B0604020202020204" pitchFamily="34" charset="0"/>
              <a:buChar char="•"/>
            </a:pPr>
            <a:endParaRPr lang="en-US" sz="1400"/>
          </a:p>
        </p:txBody>
      </p:sp>
      <p:sp>
        <p:nvSpPr>
          <p:cNvPr id="30" name="Rectangle 29">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3885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AC1BF88-34D8-9B98-AD39-FD5AEAA92804}"/>
              </a:ext>
            </a:extLst>
          </p:cNvPr>
          <p:cNvSpPr>
            <a:spLocks noGrp="1"/>
          </p:cNvSpPr>
          <p:nvPr>
            <p:ph type="title"/>
          </p:nvPr>
        </p:nvSpPr>
        <p:spPr>
          <a:xfrm>
            <a:off x="540698" y="1153572"/>
            <a:ext cx="3346536" cy="4461163"/>
          </a:xfrm>
        </p:spPr>
        <p:txBody>
          <a:bodyPr vert="horz" lIns="91440" tIns="45720" rIns="91440" bIns="45720" rtlCol="0" anchor="ctr">
            <a:normAutofit/>
          </a:bodyPr>
          <a:lstStyle/>
          <a:p>
            <a:pPr>
              <a:spcBef>
                <a:spcPct val="0"/>
              </a:spcBef>
            </a:pPr>
            <a:r>
              <a:rPr lang="en-US" sz="3700" b="1" kern="1200">
                <a:solidFill>
                  <a:srgbClr val="FFFFFF"/>
                </a:solidFill>
                <a:latin typeface="+mj-lt"/>
                <a:ea typeface="+mj-ea"/>
                <a:cs typeface="+mj-cs"/>
              </a:rPr>
              <a:t>METHODOLOGY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Subtitle 1">
            <a:extLst>
              <a:ext uri="{FF2B5EF4-FFF2-40B4-BE49-F238E27FC236}">
                <a16:creationId xmlns:a16="http://schemas.microsoft.com/office/drawing/2014/main" id="{CCF89ACE-F6A1-5CBF-73E7-1AEF307E9C4D}"/>
              </a:ext>
            </a:extLst>
          </p:cNvPr>
          <p:cNvSpPr>
            <a:spLocks noGrp="1"/>
          </p:cNvSpPr>
          <p:nvPr>
            <p:ph type="subTitle" idx="1"/>
          </p:nvPr>
        </p:nvSpPr>
        <p:spPr>
          <a:xfrm>
            <a:off x="4492132" y="826668"/>
            <a:ext cx="6906491" cy="5585619"/>
          </a:xfrm>
        </p:spPr>
        <p:txBody>
          <a:bodyPr spcFirstLastPara="1" vert="horz" wrap="square" lIns="91440" tIns="45720" rIns="91440" bIns="45720" rtlCol="0" anchor="ctr" anchorCtr="0">
            <a:noAutofit/>
          </a:bodyPr>
          <a:lstStyle/>
          <a:p>
            <a:pPr>
              <a:lnSpc>
                <a:spcPct val="90000"/>
              </a:lnSpc>
              <a:spcAft>
                <a:spcPts val="600"/>
              </a:spcAft>
              <a:buFont typeface="Arial" panose="020B0604020202020204" pitchFamily="34" charset="0"/>
              <a:buChar char="•"/>
            </a:pPr>
            <a:r>
              <a:rPr lang="en-US" b="1"/>
              <a:t>Step 1: Data Collection</a:t>
            </a:r>
            <a:endParaRPr lang="en-US">
              <a:ea typeface="Calibri"/>
              <a:cs typeface="Calibri"/>
            </a:endParaRPr>
          </a:p>
          <a:p>
            <a:pPr marL="742950" lvl="1">
              <a:lnSpc>
                <a:spcPct val="90000"/>
              </a:lnSpc>
              <a:spcAft>
                <a:spcPts val="600"/>
              </a:spcAft>
              <a:buFont typeface="Arial" panose="020B0604020202020204" pitchFamily="34" charset="0"/>
              <a:buChar char="•"/>
            </a:pPr>
            <a:r>
              <a:rPr lang="en-US"/>
              <a:t>Use monthly sectoral CO₂ emissions dataset from trusted sources (e.g., government or environmental databases).</a:t>
            </a:r>
            <a:endParaRPr lang="en-US">
              <a:ea typeface="Calibri"/>
              <a:cs typeface="Calibri"/>
            </a:endParaRPr>
          </a:p>
          <a:p>
            <a:pPr>
              <a:lnSpc>
                <a:spcPct val="90000"/>
              </a:lnSpc>
              <a:spcAft>
                <a:spcPts val="600"/>
              </a:spcAft>
              <a:buFont typeface="Arial" panose="020B0604020202020204" pitchFamily="34" charset="0"/>
              <a:buChar char="•"/>
            </a:pPr>
            <a:r>
              <a:rPr lang="en-US" b="1"/>
              <a:t>Step 2: Data Preprocessing</a:t>
            </a:r>
            <a:endParaRPr lang="en-US">
              <a:ea typeface="Calibri"/>
              <a:cs typeface="Calibri"/>
            </a:endParaRPr>
          </a:p>
          <a:p>
            <a:pPr marL="742950" lvl="1">
              <a:lnSpc>
                <a:spcPct val="90000"/>
              </a:lnSpc>
              <a:spcAft>
                <a:spcPts val="600"/>
              </a:spcAft>
              <a:buFont typeface="Arial" panose="020B0604020202020204" pitchFamily="34" charset="0"/>
              <a:buChar char="•"/>
            </a:pPr>
            <a:r>
              <a:rPr lang="en-US"/>
              <a:t>Handle missing values, outliers, and data inconsistencies.</a:t>
            </a:r>
            <a:endParaRPr lang="en-US">
              <a:ea typeface="Calibri"/>
              <a:cs typeface="Calibri"/>
            </a:endParaRPr>
          </a:p>
          <a:p>
            <a:pPr marL="742950" lvl="1">
              <a:lnSpc>
                <a:spcPct val="90000"/>
              </a:lnSpc>
              <a:spcAft>
                <a:spcPts val="600"/>
              </a:spcAft>
              <a:buFont typeface="Arial" panose="020B0604020202020204" pitchFamily="34" charset="0"/>
              <a:buChar char="•"/>
            </a:pPr>
            <a:r>
              <a:rPr lang="en-US"/>
              <a:t>Normalize or scale the features for better model performance.</a:t>
            </a:r>
            <a:endParaRPr lang="en-US">
              <a:ea typeface="Calibri"/>
              <a:cs typeface="Calibri"/>
            </a:endParaRPr>
          </a:p>
          <a:p>
            <a:pPr marL="742950" lvl="1">
              <a:lnSpc>
                <a:spcPct val="90000"/>
              </a:lnSpc>
              <a:spcAft>
                <a:spcPts val="600"/>
              </a:spcAft>
              <a:buFont typeface="Arial" panose="020B0604020202020204" pitchFamily="34" charset="0"/>
              <a:buChar char="•"/>
            </a:pPr>
            <a:r>
              <a:rPr lang="en-US"/>
              <a:t>Convert time-series date fields into usable formats (e.g., month, year index).</a:t>
            </a:r>
            <a:endParaRPr lang="en-US">
              <a:ea typeface="Calibri"/>
              <a:cs typeface="Calibri"/>
            </a:endParaRPr>
          </a:p>
          <a:p>
            <a:pPr>
              <a:lnSpc>
                <a:spcPct val="90000"/>
              </a:lnSpc>
              <a:spcAft>
                <a:spcPts val="600"/>
              </a:spcAft>
              <a:buFont typeface="Arial" panose="020B0604020202020204" pitchFamily="34" charset="0"/>
              <a:buChar char="•"/>
            </a:pPr>
            <a:r>
              <a:rPr lang="en-US" b="1"/>
              <a:t>Step 3: Exploratory Data Analysis (EDA)</a:t>
            </a:r>
            <a:endParaRPr lang="en-US">
              <a:ea typeface="Calibri"/>
              <a:cs typeface="Calibri"/>
            </a:endParaRPr>
          </a:p>
          <a:p>
            <a:pPr marL="742950" lvl="1">
              <a:lnSpc>
                <a:spcPct val="90000"/>
              </a:lnSpc>
              <a:spcAft>
                <a:spcPts val="600"/>
              </a:spcAft>
              <a:buFont typeface="Arial" panose="020B0604020202020204" pitchFamily="34" charset="0"/>
              <a:buChar char="•"/>
            </a:pPr>
            <a:r>
              <a:rPr lang="en-US"/>
              <a:t>Analyze trends, patterns, and seasonality in CO₂ emissions.</a:t>
            </a:r>
            <a:endParaRPr lang="en-US">
              <a:ea typeface="Calibri"/>
              <a:cs typeface="Calibri"/>
            </a:endParaRPr>
          </a:p>
          <a:p>
            <a:pPr marL="742950" lvl="1">
              <a:lnSpc>
                <a:spcPct val="90000"/>
              </a:lnSpc>
              <a:spcAft>
                <a:spcPts val="600"/>
              </a:spcAft>
              <a:buFont typeface="Arial" panose="020B0604020202020204" pitchFamily="34" charset="0"/>
              <a:buChar char="•"/>
            </a:pPr>
            <a:r>
              <a:rPr lang="en-US"/>
              <a:t>Visualize correlations between fuel-specific emissions and total emissions.</a:t>
            </a:r>
            <a:endParaRPr lang="en-US">
              <a:ea typeface="Calibri"/>
              <a:cs typeface="Calibri"/>
            </a:endParaRPr>
          </a:p>
          <a:p>
            <a:pPr>
              <a:lnSpc>
                <a:spcPct val="90000"/>
              </a:lnSpc>
              <a:spcAft>
                <a:spcPts val="600"/>
              </a:spcAft>
              <a:buFont typeface="Arial" panose="020B0604020202020204" pitchFamily="34" charset="0"/>
              <a:buChar char="•"/>
            </a:pPr>
            <a:r>
              <a:rPr lang="en-US" b="1"/>
              <a:t>Step 4: Feature Engineering</a:t>
            </a:r>
            <a:endParaRPr lang="en-US">
              <a:ea typeface="Calibri"/>
              <a:cs typeface="Calibri"/>
            </a:endParaRPr>
          </a:p>
          <a:p>
            <a:pPr marL="742950" lvl="1">
              <a:lnSpc>
                <a:spcPct val="90000"/>
              </a:lnSpc>
              <a:spcAft>
                <a:spcPts val="600"/>
              </a:spcAft>
              <a:buFont typeface="Arial" panose="020B0604020202020204" pitchFamily="34" charset="0"/>
              <a:buChar char="•"/>
            </a:pPr>
            <a:r>
              <a:rPr lang="en-US"/>
              <a:t>Create lag features to capture temporal dependencies.</a:t>
            </a:r>
            <a:endParaRPr lang="en-US">
              <a:ea typeface="Calibri"/>
              <a:cs typeface="Calibri"/>
            </a:endParaRPr>
          </a:p>
          <a:p>
            <a:pPr marL="742950" lvl="1">
              <a:lnSpc>
                <a:spcPct val="90000"/>
              </a:lnSpc>
              <a:spcAft>
                <a:spcPts val="600"/>
              </a:spcAft>
              <a:buFont typeface="Arial" panose="020B0604020202020204" pitchFamily="34" charset="0"/>
              <a:buChar char="•"/>
            </a:pPr>
            <a:r>
              <a:rPr lang="en-US"/>
              <a:t>Generate new features such as rolling averages or monthly year-on-year changes.</a:t>
            </a:r>
            <a:endParaRPr lang="en-US">
              <a:ea typeface="Calibri"/>
              <a:cs typeface="Calibri"/>
            </a:endParaRPr>
          </a:p>
          <a:p>
            <a:pPr>
              <a:lnSpc>
                <a:spcPct val="90000"/>
              </a:lnSpc>
              <a:spcAft>
                <a:spcPts val="600"/>
              </a:spcAft>
              <a:buFont typeface="Arial" panose="020B0604020202020204" pitchFamily="34" charset="0"/>
              <a:buChar char="•"/>
            </a:pPr>
            <a:r>
              <a:rPr lang="en-US" b="1"/>
              <a:t>Step 5: Data Splitting</a:t>
            </a:r>
            <a:endParaRPr lang="en-US">
              <a:ea typeface="Calibri"/>
              <a:cs typeface="Calibri"/>
            </a:endParaRPr>
          </a:p>
          <a:p>
            <a:pPr marL="742950" lvl="1">
              <a:lnSpc>
                <a:spcPct val="90000"/>
              </a:lnSpc>
              <a:spcAft>
                <a:spcPts val="600"/>
              </a:spcAft>
              <a:buFont typeface="Arial" panose="020B0604020202020204" pitchFamily="34" charset="0"/>
              <a:buChar char="•"/>
            </a:pPr>
            <a:r>
              <a:rPr lang="en-US"/>
              <a:t>Divide the dataset into training and testing sets (e.g., 85/15 or use </a:t>
            </a:r>
            <a:r>
              <a:rPr lang="en-US" err="1"/>
              <a:t>TimeS</a:t>
            </a:r>
            <a:r>
              <a:rPr lang="en-US"/>
              <a:t> </a:t>
            </a:r>
            <a:r>
              <a:rPr lang="en-US" err="1"/>
              <a:t>eries</a:t>
            </a:r>
            <a:r>
              <a:rPr lang="en-US"/>
              <a:t> Split).</a:t>
            </a:r>
            <a:endParaRPr lang="en-US">
              <a:ea typeface="Calibri"/>
              <a:cs typeface="Calibri"/>
            </a:endParaRPr>
          </a:p>
          <a:p>
            <a:pPr marL="0">
              <a:lnSpc>
                <a:spcPct val="90000"/>
              </a:lnSpc>
              <a:spcAft>
                <a:spcPts val="600"/>
              </a:spcAft>
              <a:buChar char="•"/>
            </a:pPr>
            <a:endParaRPr lang="en-US">
              <a:ea typeface="Calibri"/>
              <a:cs typeface="Calibri"/>
            </a:endParaRPr>
          </a:p>
          <a:p>
            <a:pPr>
              <a:lnSpc>
                <a:spcPct val="90000"/>
              </a:lnSpc>
              <a:spcAft>
                <a:spcPts val="600"/>
              </a:spcAft>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230127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Subtitle 1">
            <a:extLst>
              <a:ext uri="{FF2B5EF4-FFF2-40B4-BE49-F238E27FC236}">
                <a16:creationId xmlns:a16="http://schemas.microsoft.com/office/drawing/2014/main" id="{B48979D4-C86E-CA9A-FD5F-03501343FBB0}"/>
              </a:ext>
            </a:extLst>
          </p:cNvPr>
          <p:cNvSpPr>
            <a:spLocks noGrp="1"/>
          </p:cNvSpPr>
          <p:nvPr>
            <p:ph type="subTitle" idx="1"/>
          </p:nvPr>
        </p:nvSpPr>
        <p:spPr>
          <a:xfrm>
            <a:off x="4447308" y="591344"/>
            <a:ext cx="6906491" cy="5585619"/>
          </a:xfrm>
        </p:spPr>
        <p:txBody>
          <a:bodyPr spcFirstLastPara="1" vert="horz" wrap="square" lIns="91440" tIns="45720" rIns="91440" bIns="45720" rtlCol="0" anchor="ctr" anchorCtr="0">
            <a:noAutofit/>
          </a:bodyPr>
          <a:lstStyle/>
          <a:p>
            <a:pPr marL="285750">
              <a:lnSpc>
                <a:spcPct val="90000"/>
              </a:lnSpc>
              <a:spcAft>
                <a:spcPts val="600"/>
              </a:spcAft>
              <a:buFont typeface="Arial" panose="020B0604020202020204" pitchFamily="34" charset="0"/>
              <a:buChar char="•"/>
            </a:pPr>
            <a:r>
              <a:rPr lang="en-US" sz="1400" b="1" dirty="0"/>
              <a:t>Step 6: Model Selection &amp; Training</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Apply multiple models:</a:t>
            </a:r>
            <a:endParaRPr lang="en-US" sz="1400" dirty="0">
              <a:ea typeface="Calibri"/>
              <a:cs typeface="Calibri"/>
            </a:endParaRPr>
          </a:p>
          <a:p>
            <a:pPr lvl="2">
              <a:lnSpc>
                <a:spcPct val="90000"/>
              </a:lnSpc>
              <a:spcAft>
                <a:spcPts val="600"/>
              </a:spcAft>
              <a:buFont typeface="Arial" panose="020B0604020202020204" pitchFamily="34" charset="0"/>
              <a:buChar char="•"/>
            </a:pPr>
            <a:r>
              <a:rPr lang="en-US" sz="1400" b="1" dirty="0"/>
              <a:t>Ridge Regression</a:t>
            </a:r>
            <a:endParaRPr lang="en-US" sz="1400" dirty="0">
              <a:ea typeface="Calibri"/>
              <a:cs typeface="Calibri"/>
            </a:endParaRPr>
          </a:p>
          <a:p>
            <a:pPr lvl="2">
              <a:lnSpc>
                <a:spcPct val="90000"/>
              </a:lnSpc>
              <a:spcAft>
                <a:spcPts val="600"/>
              </a:spcAft>
              <a:buFont typeface="Arial" panose="020B0604020202020204" pitchFamily="34" charset="0"/>
              <a:buChar char="•"/>
            </a:pPr>
            <a:r>
              <a:rPr lang="en-US" sz="1400" b="1" dirty="0"/>
              <a:t>Support Vector Regression (SVR)</a:t>
            </a:r>
            <a:endParaRPr lang="en-US" sz="1400" dirty="0">
              <a:ea typeface="Calibri"/>
              <a:cs typeface="Calibri"/>
            </a:endParaRPr>
          </a:p>
          <a:p>
            <a:pPr lvl="2">
              <a:lnSpc>
                <a:spcPct val="90000"/>
              </a:lnSpc>
              <a:spcAft>
                <a:spcPts val="600"/>
              </a:spcAft>
              <a:buFont typeface="Arial" panose="020B0604020202020204" pitchFamily="34" charset="0"/>
              <a:buChar char="•"/>
            </a:pPr>
            <a:r>
              <a:rPr lang="en-US" sz="1400" b="1" dirty="0" err="1"/>
              <a:t>XGBoost</a:t>
            </a:r>
            <a:r>
              <a:rPr lang="en-US" sz="1400" b="1" dirty="0"/>
              <a:t> Regressor</a:t>
            </a:r>
            <a:endParaRPr lang="en-US" sz="1400" dirty="0">
              <a:ea typeface="Calibri"/>
              <a:cs typeface="Calibri"/>
            </a:endParaRPr>
          </a:p>
          <a:p>
            <a:pPr lvl="2">
              <a:lnSpc>
                <a:spcPct val="90000"/>
              </a:lnSpc>
              <a:spcAft>
                <a:spcPts val="600"/>
              </a:spcAft>
              <a:buFont typeface="Arial" panose="020B0604020202020204" pitchFamily="34" charset="0"/>
              <a:buChar char="•"/>
            </a:pPr>
            <a:r>
              <a:rPr lang="en-US" sz="1400" b="1" dirty="0" err="1"/>
              <a:t>LightGBM</a:t>
            </a:r>
            <a:r>
              <a:rPr lang="en-US" sz="1400" b="1" dirty="0"/>
              <a:t> Regressor</a:t>
            </a:r>
            <a:endParaRPr lang="en-US" sz="1400" dirty="0">
              <a:ea typeface="Calibri"/>
              <a:cs typeface="Calibri"/>
            </a:endParaRPr>
          </a:p>
          <a:p>
            <a:pPr lvl="2">
              <a:lnSpc>
                <a:spcPct val="90000"/>
              </a:lnSpc>
              <a:spcAft>
                <a:spcPts val="600"/>
              </a:spcAft>
              <a:buFont typeface="Arial" panose="020B0604020202020204" pitchFamily="34" charset="0"/>
              <a:buChar char="•"/>
            </a:pPr>
            <a:r>
              <a:rPr lang="en-US" sz="1400" b="1" dirty="0"/>
              <a:t>LSTM (for deep learning time-series forecasting)</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Tune hyperparameters for each model.</a:t>
            </a:r>
            <a:endParaRPr lang="en-US" sz="1400" dirty="0">
              <a:ea typeface="Calibri"/>
              <a:cs typeface="Calibri"/>
            </a:endParaRPr>
          </a:p>
          <a:p>
            <a:pPr marL="285750" lvl="1">
              <a:lnSpc>
                <a:spcPct val="90000"/>
              </a:lnSpc>
              <a:spcAft>
                <a:spcPts val="600"/>
              </a:spcAft>
              <a:buFont typeface="Arial" panose="020B0604020202020204" pitchFamily="34" charset="0"/>
              <a:buChar char="•"/>
            </a:pPr>
            <a:r>
              <a:rPr lang="en-US" sz="1400" b="1" dirty="0"/>
              <a:t>Step 7: Model Evaluation</a:t>
            </a:r>
            <a:endParaRPr lang="en-US" sz="1400" dirty="0">
              <a:ea typeface="Calibri"/>
              <a:cs typeface="Calibri"/>
            </a:endParaRPr>
          </a:p>
          <a:p>
            <a:pPr marL="1200150" lvl="2">
              <a:lnSpc>
                <a:spcPct val="90000"/>
              </a:lnSpc>
              <a:spcAft>
                <a:spcPts val="600"/>
              </a:spcAft>
              <a:buFont typeface="Arial" panose="020B0604020202020204" pitchFamily="34" charset="0"/>
              <a:buChar char="•"/>
            </a:pPr>
            <a:r>
              <a:rPr lang="en-US" sz="1400" dirty="0"/>
              <a:t>Use performance metrics:</a:t>
            </a:r>
            <a:endParaRPr lang="en-US" sz="1400" dirty="0">
              <a:ea typeface="Calibri"/>
              <a:cs typeface="Calibri"/>
            </a:endParaRPr>
          </a:p>
          <a:p>
            <a:pPr marL="1657350" lvl="3">
              <a:lnSpc>
                <a:spcPct val="90000"/>
              </a:lnSpc>
              <a:spcAft>
                <a:spcPts val="600"/>
              </a:spcAft>
              <a:buFont typeface="Arial" panose="020B0604020202020204" pitchFamily="34" charset="0"/>
              <a:buChar char="•"/>
            </a:pPr>
            <a:r>
              <a:rPr lang="en-US" sz="1400" b="1" dirty="0"/>
              <a:t>MAE</a:t>
            </a:r>
            <a:r>
              <a:rPr lang="en-US" sz="1400" dirty="0"/>
              <a:t> (Mean Absolute Error)</a:t>
            </a:r>
            <a:endParaRPr lang="en-US" sz="1400" dirty="0">
              <a:ea typeface="Calibri"/>
              <a:cs typeface="Calibri"/>
            </a:endParaRPr>
          </a:p>
          <a:p>
            <a:pPr marL="1657350" lvl="3">
              <a:lnSpc>
                <a:spcPct val="90000"/>
              </a:lnSpc>
              <a:spcAft>
                <a:spcPts val="600"/>
              </a:spcAft>
              <a:buFont typeface="Arial" panose="020B0604020202020204" pitchFamily="34" charset="0"/>
              <a:buChar char="•"/>
            </a:pPr>
            <a:r>
              <a:rPr lang="en-US" sz="1400" b="1" dirty="0"/>
              <a:t>RMSE</a:t>
            </a:r>
            <a:r>
              <a:rPr lang="en-US" sz="1400" dirty="0"/>
              <a:t> (Root Mean Squared Error)</a:t>
            </a:r>
            <a:endParaRPr lang="en-US" sz="1400" dirty="0">
              <a:ea typeface="Calibri"/>
              <a:cs typeface="Calibri"/>
            </a:endParaRPr>
          </a:p>
          <a:p>
            <a:pPr marL="1657350" lvl="3">
              <a:lnSpc>
                <a:spcPct val="90000"/>
              </a:lnSpc>
              <a:spcAft>
                <a:spcPts val="600"/>
              </a:spcAft>
              <a:buFont typeface="Arial" panose="020B0604020202020204" pitchFamily="34" charset="0"/>
              <a:buChar char="•"/>
            </a:pPr>
            <a:r>
              <a:rPr lang="en-US" sz="1400" b="1" dirty="0"/>
              <a:t>R² Score</a:t>
            </a:r>
            <a:r>
              <a:rPr lang="en-US" sz="1400" dirty="0"/>
              <a:t> (Coefficient of Determination)</a:t>
            </a:r>
            <a:endParaRPr lang="en-US" sz="1400" dirty="0">
              <a:ea typeface="Calibri"/>
              <a:cs typeface="Calibri"/>
            </a:endParaRPr>
          </a:p>
          <a:p>
            <a:pPr>
              <a:lnSpc>
                <a:spcPct val="90000"/>
              </a:lnSpc>
              <a:spcAft>
                <a:spcPts val="600"/>
              </a:spcAft>
              <a:buFont typeface="Arial" panose="020B0604020202020204" pitchFamily="34" charset="0"/>
              <a:buChar char="•"/>
            </a:pPr>
            <a:r>
              <a:rPr lang="en-US" sz="1400" b="1" dirty="0"/>
              <a:t>Step 8: Forecasting</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Use the best-performing model to predict future CO₂ emissions.</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Visualize actual vs. predicted emissions.</a:t>
            </a:r>
            <a:endParaRPr lang="en-US" sz="1400" dirty="0">
              <a:ea typeface="Calibri"/>
              <a:cs typeface="Calibri"/>
            </a:endParaRPr>
          </a:p>
          <a:p>
            <a:pPr>
              <a:lnSpc>
                <a:spcPct val="90000"/>
              </a:lnSpc>
              <a:spcAft>
                <a:spcPts val="600"/>
              </a:spcAft>
              <a:buFont typeface="Arial" panose="020B0604020202020204" pitchFamily="34" charset="0"/>
              <a:buChar char="•"/>
            </a:pPr>
            <a:r>
              <a:rPr lang="en-US" sz="1400" b="1" dirty="0"/>
              <a:t>Step 9: Model Comparison</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Compare models based on accuracy, complexity, training time, and interpretability.</a:t>
            </a:r>
            <a:endParaRPr lang="en-US" sz="1400" dirty="0">
              <a:ea typeface="Calibri"/>
              <a:cs typeface="Calibri"/>
            </a:endParaRPr>
          </a:p>
          <a:p>
            <a:pPr>
              <a:lnSpc>
                <a:spcPct val="90000"/>
              </a:lnSpc>
              <a:spcAft>
                <a:spcPts val="600"/>
              </a:spcAft>
              <a:buFont typeface="Arial" panose="020B0604020202020204" pitchFamily="34" charset="0"/>
              <a:buChar char="•"/>
            </a:pPr>
            <a:r>
              <a:rPr lang="en-US" sz="1400" b="1" dirty="0"/>
              <a:t>Step 10: Conclusion &amp; Recommendations</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Summarize findings.</a:t>
            </a:r>
            <a:endParaRPr lang="en-US" sz="1400" dirty="0">
              <a:ea typeface="Calibri"/>
              <a:cs typeface="Calibri"/>
            </a:endParaRPr>
          </a:p>
          <a:p>
            <a:pPr marL="742950" lvl="1">
              <a:lnSpc>
                <a:spcPct val="90000"/>
              </a:lnSpc>
              <a:spcAft>
                <a:spcPts val="600"/>
              </a:spcAft>
              <a:buFont typeface="Arial" panose="020B0604020202020204" pitchFamily="34" charset="0"/>
              <a:buChar char="•"/>
            </a:pPr>
            <a:r>
              <a:rPr lang="en-US" sz="1400" dirty="0"/>
              <a:t>Suggest suitable models for real-time emission monitoring and policy implications.</a:t>
            </a:r>
            <a:endParaRPr lang="en-US" sz="1400" dirty="0">
              <a:ea typeface="Calibri"/>
              <a:cs typeface="Calibri"/>
            </a:endParaRPr>
          </a:p>
          <a:p>
            <a:pPr>
              <a:lnSpc>
                <a:spcPct val="90000"/>
              </a:lnSpc>
              <a:spcAft>
                <a:spcPts val="600"/>
              </a:spcAft>
              <a:buFont typeface="Arial" panose="020B0604020202020204" pitchFamily="34" charset="0"/>
              <a:buChar char="•"/>
            </a:pPr>
            <a:endParaRPr lang="en-US" sz="1400" dirty="0">
              <a:ea typeface="Calibri"/>
              <a:cs typeface="Calibri"/>
            </a:endParaRPr>
          </a:p>
        </p:txBody>
      </p:sp>
    </p:spTree>
    <p:extLst>
      <p:ext uri="{BB962C8B-B14F-4D97-AF65-F5344CB8AC3E}">
        <p14:creationId xmlns:p14="http://schemas.microsoft.com/office/powerpoint/2010/main" val="1869744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8A4C7AB-BA0E-C33A-174A-35A67FB99A86}"/>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spcBef>
                <a:spcPct val="0"/>
              </a:spcBef>
            </a:pPr>
            <a:r>
              <a:rPr lang="en-US" sz="5400" b="1"/>
              <a:t>RIDGE REGRESSION</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1">
            <a:extLst>
              <a:ext uri="{FF2B5EF4-FFF2-40B4-BE49-F238E27FC236}">
                <a16:creationId xmlns:a16="http://schemas.microsoft.com/office/drawing/2014/main" id="{40959EF2-0204-5536-A2BB-B55CB33C5F7E}"/>
              </a:ext>
            </a:extLst>
          </p:cNvPr>
          <p:cNvSpPr>
            <a:spLocks noGrp="1"/>
          </p:cNvSpPr>
          <p:nvPr>
            <p:ph type="subTitle" idx="1"/>
          </p:nvPr>
        </p:nvSpPr>
        <p:spPr>
          <a:xfrm>
            <a:off x="572493" y="2071316"/>
            <a:ext cx="6713552" cy="4119172"/>
          </a:xfrm>
        </p:spPr>
        <p:txBody>
          <a:bodyPr vert="horz" lIns="91440" tIns="45720" rIns="91440" bIns="45720" rtlCol="0" anchor="t">
            <a:normAutofit/>
          </a:bodyPr>
          <a:lstStyle/>
          <a:p>
            <a:pPr>
              <a:lnSpc>
                <a:spcPct val="90000"/>
              </a:lnSpc>
              <a:spcAft>
                <a:spcPts val="600"/>
              </a:spcAft>
              <a:buFont typeface="Arial" panose="020B0604020202020204" pitchFamily="34" charset="0"/>
              <a:buChar char="•"/>
            </a:pPr>
            <a:r>
              <a:rPr lang="en-US" sz="2000"/>
              <a:t>A type of </a:t>
            </a:r>
            <a:r>
              <a:rPr lang="en-US" sz="2000" b="1"/>
              <a:t>linear regression</a:t>
            </a:r>
            <a:r>
              <a:rPr lang="en-US" sz="2000"/>
              <a:t> that includes </a:t>
            </a:r>
            <a:r>
              <a:rPr lang="en-US" sz="2000" b="1"/>
              <a:t>L2 regularization</a:t>
            </a:r>
            <a:r>
              <a:rPr lang="en-US" sz="2000"/>
              <a:t>.</a:t>
            </a:r>
          </a:p>
          <a:p>
            <a:pPr>
              <a:lnSpc>
                <a:spcPct val="90000"/>
              </a:lnSpc>
              <a:spcAft>
                <a:spcPts val="600"/>
              </a:spcAft>
              <a:buFont typeface="Arial" panose="020B0604020202020204" pitchFamily="34" charset="0"/>
              <a:buChar char="•"/>
            </a:pPr>
            <a:r>
              <a:rPr lang="en-US" sz="2000"/>
              <a:t>Helps </a:t>
            </a:r>
            <a:r>
              <a:rPr lang="en-US" sz="2000" b="1"/>
              <a:t>prevent overfitting</a:t>
            </a:r>
            <a:r>
              <a:rPr lang="en-US" sz="2000"/>
              <a:t> by penalizing large coefficients.</a:t>
            </a:r>
          </a:p>
          <a:p>
            <a:pPr>
              <a:lnSpc>
                <a:spcPct val="90000"/>
              </a:lnSpc>
              <a:spcAft>
                <a:spcPts val="600"/>
              </a:spcAft>
              <a:buFont typeface="Arial" panose="020B0604020202020204" pitchFamily="34" charset="0"/>
              <a:buChar char="•"/>
            </a:pPr>
            <a:r>
              <a:rPr lang="en-US" sz="2000"/>
              <a:t>Useful when features are </a:t>
            </a:r>
            <a:r>
              <a:rPr lang="en-US" sz="2000" b="1"/>
              <a:t>correlated</a:t>
            </a:r>
            <a:r>
              <a:rPr lang="en-US" sz="2000"/>
              <a:t> or the dataset has </a:t>
            </a:r>
            <a:r>
              <a:rPr lang="en-US" sz="2000" b="1"/>
              <a:t>multicollinearity</a:t>
            </a:r>
            <a:r>
              <a:rPr lang="en-US" sz="2000"/>
              <a:t>.</a:t>
            </a:r>
          </a:p>
          <a:p>
            <a:pPr>
              <a:lnSpc>
                <a:spcPct val="90000"/>
              </a:lnSpc>
              <a:spcAft>
                <a:spcPts val="600"/>
              </a:spcAft>
              <a:buFont typeface="Arial" panose="020B0604020202020204" pitchFamily="34" charset="0"/>
              <a:buChar char="•"/>
            </a:pPr>
            <a:r>
              <a:rPr lang="en-US" sz="2000"/>
              <a:t>Balances </a:t>
            </a:r>
            <a:r>
              <a:rPr lang="en-US" sz="2000" b="1"/>
              <a:t>bias-variance trade-off</a:t>
            </a:r>
            <a:r>
              <a:rPr lang="en-US" sz="2000"/>
              <a:t> using a regularization parameter (λ).</a:t>
            </a:r>
          </a:p>
          <a:p>
            <a:pPr>
              <a:lnSpc>
                <a:spcPct val="90000"/>
              </a:lnSpc>
              <a:spcAft>
                <a:spcPts val="600"/>
              </a:spcAft>
              <a:buFont typeface="Arial" panose="020B0604020202020204" pitchFamily="34" charset="0"/>
              <a:buChar char="•"/>
            </a:pPr>
            <a:r>
              <a:rPr lang="en-US" sz="2000"/>
              <a:t>Works best with </a:t>
            </a:r>
            <a:r>
              <a:rPr lang="en-US" sz="2000" b="1"/>
              <a:t>simple, linear relationships</a:t>
            </a:r>
            <a:r>
              <a:rPr lang="en-US" sz="2000"/>
              <a:t> in the data.</a:t>
            </a:r>
          </a:p>
          <a:p>
            <a:pPr>
              <a:lnSpc>
                <a:spcPct val="90000"/>
              </a:lnSpc>
              <a:spcAft>
                <a:spcPts val="600"/>
              </a:spcAft>
              <a:buFont typeface="Arial" panose="020B0604020202020204" pitchFamily="34" charset="0"/>
              <a:buChar char="•"/>
            </a:pPr>
            <a:r>
              <a:rPr lang="en-US" sz="2000"/>
              <a:t>Faster and interpretable but </a:t>
            </a:r>
            <a:r>
              <a:rPr lang="en-US" sz="2000" b="1"/>
              <a:t>less effective on non-linear patterns</a:t>
            </a:r>
            <a:r>
              <a:rPr lang="en-US" sz="2000"/>
              <a:t>.</a:t>
            </a:r>
          </a:p>
          <a:p>
            <a:pPr>
              <a:lnSpc>
                <a:spcPct val="90000"/>
              </a:lnSpc>
              <a:spcAft>
                <a:spcPts val="600"/>
              </a:spcAft>
              <a:buFont typeface="Arial" panose="020B0604020202020204" pitchFamily="34" charset="0"/>
              <a:buChar char="•"/>
            </a:pPr>
            <a:endParaRPr lang="en-US" sz="2000"/>
          </a:p>
        </p:txBody>
      </p:sp>
      <p:pic>
        <p:nvPicPr>
          <p:cNvPr id="6" name="Picture 5">
            <a:extLst>
              <a:ext uri="{FF2B5EF4-FFF2-40B4-BE49-F238E27FC236}">
                <a16:creationId xmlns:a16="http://schemas.microsoft.com/office/drawing/2014/main" id="{F695AB93-6697-7D51-F52A-2BFD957C3B25}"/>
              </a:ext>
            </a:extLst>
          </p:cNvPr>
          <p:cNvPicPr>
            <a:picLocks noChangeAspect="1"/>
          </p:cNvPicPr>
          <p:nvPr/>
        </p:nvPicPr>
        <p:blipFill>
          <a:blip r:embed="rId2">
            <a:extLst>
              <a:ext uri="{28A0092B-C50C-407E-A947-70E740481C1C}">
                <a14:useLocalDpi xmlns:a14="http://schemas.microsoft.com/office/drawing/2010/main" val="0"/>
              </a:ext>
            </a:extLst>
          </a:blip>
          <a:srcRect l="4458" r="6624"/>
          <a:stretch/>
        </p:blipFill>
        <p:spPr>
          <a:xfrm>
            <a:off x="7314539" y="2312926"/>
            <a:ext cx="4304968" cy="3635952"/>
          </a:xfrm>
          <a:prstGeom prst="rect">
            <a:avLst/>
          </a:prstGeom>
        </p:spPr>
      </p:pic>
    </p:spTree>
    <p:extLst>
      <p:ext uri="{BB962C8B-B14F-4D97-AF65-F5344CB8AC3E}">
        <p14:creationId xmlns:p14="http://schemas.microsoft.com/office/powerpoint/2010/main" val="1083804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3226573-38A6-662B-433A-3A3CFDF388F1}"/>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spcBef>
                <a:spcPct val="0"/>
              </a:spcBef>
            </a:pPr>
            <a:r>
              <a:rPr lang="en-US" sz="5400" b="1"/>
              <a:t>XG BOOST</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1">
            <a:extLst>
              <a:ext uri="{FF2B5EF4-FFF2-40B4-BE49-F238E27FC236}">
                <a16:creationId xmlns:a16="http://schemas.microsoft.com/office/drawing/2014/main" id="{443D449F-2671-F6AE-E61E-E9F3739C5054}"/>
              </a:ext>
            </a:extLst>
          </p:cNvPr>
          <p:cNvSpPr>
            <a:spLocks noGrp="1"/>
          </p:cNvSpPr>
          <p:nvPr>
            <p:ph type="subTitle" idx="1"/>
          </p:nvPr>
        </p:nvSpPr>
        <p:spPr>
          <a:xfrm>
            <a:off x="572493" y="2071316"/>
            <a:ext cx="6713552" cy="4119172"/>
          </a:xfrm>
        </p:spPr>
        <p:txBody>
          <a:bodyPr vert="horz" lIns="91440" tIns="45720" rIns="91440" bIns="45720" rtlCol="0" anchor="t">
            <a:normAutofit/>
          </a:bodyPr>
          <a:lstStyle/>
          <a:p>
            <a:pPr>
              <a:lnSpc>
                <a:spcPct val="90000"/>
              </a:lnSpc>
              <a:spcAft>
                <a:spcPts val="600"/>
              </a:spcAft>
              <a:buFont typeface="Arial" panose="020B0604020202020204" pitchFamily="34" charset="0"/>
              <a:buChar char="•"/>
            </a:pPr>
            <a:r>
              <a:rPr lang="en-US" sz="2200"/>
              <a:t>An </a:t>
            </a:r>
            <a:r>
              <a:rPr lang="en-US" sz="2200" b="1"/>
              <a:t>ensemble learning algorithm</a:t>
            </a:r>
            <a:r>
              <a:rPr lang="en-US" sz="2200"/>
              <a:t> based on decision trees.</a:t>
            </a:r>
          </a:p>
          <a:p>
            <a:pPr>
              <a:lnSpc>
                <a:spcPct val="90000"/>
              </a:lnSpc>
              <a:spcAft>
                <a:spcPts val="600"/>
              </a:spcAft>
              <a:buFont typeface="Arial" panose="020B0604020202020204" pitchFamily="34" charset="0"/>
              <a:buChar char="•"/>
            </a:pPr>
            <a:r>
              <a:rPr lang="en-US" sz="2200"/>
              <a:t>Boosts accuracy by combining </a:t>
            </a:r>
            <a:r>
              <a:rPr lang="en-US" sz="2200" b="1"/>
              <a:t>multiple weak learners</a:t>
            </a:r>
            <a:r>
              <a:rPr lang="en-US" sz="2200"/>
              <a:t>.</a:t>
            </a:r>
          </a:p>
          <a:p>
            <a:pPr>
              <a:lnSpc>
                <a:spcPct val="90000"/>
              </a:lnSpc>
              <a:spcAft>
                <a:spcPts val="600"/>
              </a:spcAft>
              <a:buFont typeface="Arial" panose="020B0604020202020204" pitchFamily="34" charset="0"/>
              <a:buChar char="•"/>
            </a:pPr>
            <a:r>
              <a:rPr lang="en-US" sz="2200"/>
              <a:t>Uses </a:t>
            </a:r>
            <a:r>
              <a:rPr lang="en-US" sz="2200" b="1"/>
              <a:t>gradient descent</a:t>
            </a:r>
            <a:r>
              <a:rPr lang="en-US" sz="2200"/>
              <a:t> to minimize errors over iterations.</a:t>
            </a:r>
          </a:p>
          <a:p>
            <a:pPr>
              <a:lnSpc>
                <a:spcPct val="90000"/>
              </a:lnSpc>
              <a:spcAft>
                <a:spcPts val="600"/>
              </a:spcAft>
              <a:buFont typeface="Arial" panose="020B0604020202020204" pitchFamily="34" charset="0"/>
              <a:buChar char="•"/>
            </a:pPr>
            <a:r>
              <a:rPr lang="en-US" sz="2200"/>
              <a:t>Includes built-in </a:t>
            </a:r>
            <a:r>
              <a:rPr lang="en-US" sz="2200" b="1"/>
              <a:t>regularization</a:t>
            </a:r>
            <a:r>
              <a:rPr lang="en-US" sz="2200"/>
              <a:t>, preventing overfitting.</a:t>
            </a:r>
          </a:p>
          <a:p>
            <a:pPr>
              <a:lnSpc>
                <a:spcPct val="90000"/>
              </a:lnSpc>
              <a:spcAft>
                <a:spcPts val="600"/>
              </a:spcAft>
              <a:buFont typeface="Arial" panose="020B0604020202020204" pitchFamily="34" charset="0"/>
              <a:buChar char="•"/>
            </a:pPr>
            <a:r>
              <a:rPr lang="en-US" sz="2200"/>
              <a:t>Handles </a:t>
            </a:r>
            <a:r>
              <a:rPr lang="en-US" sz="2200" b="1"/>
              <a:t>missing values and noisy data</a:t>
            </a:r>
            <a:r>
              <a:rPr lang="en-US" sz="2200"/>
              <a:t> effectively.</a:t>
            </a:r>
          </a:p>
          <a:p>
            <a:pPr>
              <a:lnSpc>
                <a:spcPct val="90000"/>
              </a:lnSpc>
              <a:spcAft>
                <a:spcPts val="600"/>
              </a:spcAft>
              <a:buFont typeface="Arial" panose="020B0604020202020204" pitchFamily="34" charset="0"/>
              <a:buChar char="•"/>
            </a:pPr>
            <a:r>
              <a:rPr lang="en-US" sz="2200"/>
              <a:t>Works well for </a:t>
            </a:r>
            <a:r>
              <a:rPr lang="en-US" sz="2200" b="1"/>
              <a:t>tabular and structured data</a:t>
            </a:r>
            <a:r>
              <a:rPr lang="en-US" sz="2200"/>
              <a:t>, including emissions datasets.</a:t>
            </a:r>
          </a:p>
          <a:p>
            <a:pPr>
              <a:lnSpc>
                <a:spcPct val="90000"/>
              </a:lnSpc>
              <a:spcAft>
                <a:spcPts val="600"/>
              </a:spcAft>
              <a:buFont typeface="Arial" panose="020B0604020202020204" pitchFamily="34" charset="0"/>
              <a:buChar char="•"/>
            </a:pPr>
            <a:r>
              <a:rPr lang="en-US" sz="2200"/>
              <a:t>Requires </a:t>
            </a:r>
            <a:r>
              <a:rPr lang="en-US" sz="2200" b="1"/>
              <a:t>feature scaling</a:t>
            </a:r>
            <a:r>
              <a:rPr lang="en-US" sz="2200"/>
              <a:t>, but is </a:t>
            </a:r>
            <a:r>
              <a:rPr lang="en-US" sz="2200" b="1"/>
              <a:t>highly efficient and scalable</a:t>
            </a:r>
            <a:r>
              <a:rPr lang="en-US" sz="2200"/>
              <a:t>.</a:t>
            </a:r>
          </a:p>
          <a:p>
            <a:pPr>
              <a:lnSpc>
                <a:spcPct val="90000"/>
              </a:lnSpc>
              <a:spcAft>
                <a:spcPts val="600"/>
              </a:spcAft>
              <a:buFont typeface="Arial" panose="020B0604020202020204" pitchFamily="34" charset="0"/>
              <a:buChar char="•"/>
            </a:pPr>
            <a:endParaRPr lang="en-US" sz="2200"/>
          </a:p>
        </p:txBody>
      </p:sp>
      <p:pic>
        <p:nvPicPr>
          <p:cNvPr id="6" name="Picture 5">
            <a:extLst>
              <a:ext uri="{FF2B5EF4-FFF2-40B4-BE49-F238E27FC236}">
                <a16:creationId xmlns:a16="http://schemas.microsoft.com/office/drawing/2014/main" id="{E0AAAB09-520D-D44E-759D-FCFAF1DFD361}"/>
              </a:ext>
            </a:extLst>
          </p:cNvPr>
          <p:cNvPicPr>
            <a:picLocks noChangeAspect="1"/>
          </p:cNvPicPr>
          <p:nvPr/>
        </p:nvPicPr>
        <p:blipFill>
          <a:blip r:embed="rId2">
            <a:extLst>
              <a:ext uri="{28A0092B-C50C-407E-A947-70E740481C1C}">
                <a14:useLocalDpi xmlns:a14="http://schemas.microsoft.com/office/drawing/2010/main" val="0"/>
              </a:ext>
            </a:extLst>
          </a:blip>
          <a:srcRect l="4198" r="5820"/>
          <a:stretch/>
        </p:blipFill>
        <p:spPr>
          <a:xfrm>
            <a:off x="7168058" y="2102954"/>
            <a:ext cx="4451449" cy="3710295"/>
          </a:xfrm>
          <a:prstGeom prst="rect">
            <a:avLst/>
          </a:prstGeom>
        </p:spPr>
      </p:pic>
    </p:spTree>
    <p:extLst>
      <p:ext uri="{BB962C8B-B14F-4D97-AF65-F5344CB8AC3E}">
        <p14:creationId xmlns:p14="http://schemas.microsoft.com/office/powerpoint/2010/main" val="373064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7693859-95A0-3C4B-CDF2-6E04CCBF1A84}"/>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spcBef>
                <a:spcPct val="0"/>
              </a:spcBef>
            </a:pPr>
            <a:r>
              <a:rPr lang="en-US" sz="5400" b="1"/>
              <a:t>LIGHT GBM</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1">
            <a:extLst>
              <a:ext uri="{FF2B5EF4-FFF2-40B4-BE49-F238E27FC236}">
                <a16:creationId xmlns:a16="http://schemas.microsoft.com/office/drawing/2014/main" id="{1E1B06E3-BA9A-0102-859B-DA54E2E87B07}"/>
              </a:ext>
            </a:extLst>
          </p:cNvPr>
          <p:cNvSpPr>
            <a:spLocks noGrp="1"/>
          </p:cNvSpPr>
          <p:nvPr>
            <p:ph type="subTitle" idx="1"/>
          </p:nvPr>
        </p:nvSpPr>
        <p:spPr>
          <a:xfrm>
            <a:off x="572493" y="2071316"/>
            <a:ext cx="6339584" cy="4119172"/>
          </a:xfrm>
        </p:spPr>
        <p:txBody>
          <a:bodyPr vert="horz" lIns="91440" tIns="45720" rIns="91440" bIns="45720" rtlCol="0" anchor="t">
            <a:normAutofit/>
          </a:bodyPr>
          <a:lstStyle/>
          <a:p>
            <a:pPr>
              <a:lnSpc>
                <a:spcPct val="90000"/>
              </a:lnSpc>
              <a:spcAft>
                <a:spcPts val="600"/>
              </a:spcAft>
              <a:buFont typeface="Arial" panose="020B0604020202020204" pitchFamily="34" charset="0"/>
              <a:buChar char="•"/>
            </a:pPr>
            <a:r>
              <a:rPr lang="en-US" sz="2200" dirty="0"/>
              <a:t>A </a:t>
            </a:r>
            <a:r>
              <a:rPr lang="en-US" sz="2200" b="1" dirty="0"/>
              <a:t>faster and more efficient alternative</a:t>
            </a:r>
            <a:r>
              <a:rPr lang="en-US" sz="2200" dirty="0"/>
              <a:t> to </a:t>
            </a:r>
            <a:r>
              <a:rPr lang="en-US" sz="2200" dirty="0" err="1"/>
              <a:t>XGBoost</a:t>
            </a:r>
            <a:r>
              <a:rPr lang="en-US" sz="2200" dirty="0"/>
              <a:t>.</a:t>
            </a:r>
          </a:p>
          <a:p>
            <a:pPr>
              <a:lnSpc>
                <a:spcPct val="90000"/>
              </a:lnSpc>
              <a:spcAft>
                <a:spcPts val="600"/>
              </a:spcAft>
              <a:buFont typeface="Arial" panose="020B0604020202020204" pitchFamily="34" charset="0"/>
              <a:buChar char="•"/>
            </a:pPr>
            <a:r>
              <a:rPr lang="en-US" sz="2200" dirty="0"/>
              <a:t>Uses </a:t>
            </a:r>
            <a:r>
              <a:rPr lang="en-US" sz="2200" b="1" dirty="0"/>
              <a:t>leaf-wise tree growth</a:t>
            </a:r>
            <a:r>
              <a:rPr lang="en-US" sz="2200" dirty="0"/>
              <a:t> for better accuracy.</a:t>
            </a:r>
          </a:p>
          <a:p>
            <a:pPr>
              <a:lnSpc>
                <a:spcPct val="90000"/>
              </a:lnSpc>
              <a:spcAft>
                <a:spcPts val="600"/>
              </a:spcAft>
              <a:buFont typeface="Arial" panose="020B0604020202020204" pitchFamily="34" charset="0"/>
              <a:buChar char="•"/>
            </a:pPr>
            <a:r>
              <a:rPr lang="en-US" sz="2200" dirty="0"/>
              <a:t>Optimized for </a:t>
            </a:r>
            <a:r>
              <a:rPr lang="en-US" sz="2200" b="1" dirty="0"/>
              <a:t>speed and low memory usage</a:t>
            </a:r>
            <a:r>
              <a:rPr lang="en-US" sz="2200" dirty="0"/>
              <a:t>.</a:t>
            </a:r>
          </a:p>
          <a:p>
            <a:pPr>
              <a:lnSpc>
                <a:spcPct val="90000"/>
              </a:lnSpc>
              <a:spcAft>
                <a:spcPts val="600"/>
              </a:spcAft>
              <a:buFont typeface="Arial" panose="020B0604020202020204" pitchFamily="34" charset="0"/>
              <a:buChar char="•"/>
            </a:pPr>
            <a:r>
              <a:rPr lang="en-US" sz="2200" dirty="0"/>
              <a:t>Supports </a:t>
            </a:r>
            <a:r>
              <a:rPr lang="en-US" sz="2200" b="1" dirty="0"/>
              <a:t>categorical features natively</a:t>
            </a:r>
            <a:r>
              <a:rPr lang="en-US" sz="2200" dirty="0"/>
              <a:t>.</a:t>
            </a:r>
          </a:p>
          <a:p>
            <a:pPr>
              <a:lnSpc>
                <a:spcPct val="90000"/>
              </a:lnSpc>
              <a:spcAft>
                <a:spcPts val="600"/>
              </a:spcAft>
              <a:buFont typeface="Arial" panose="020B0604020202020204" pitchFamily="34" charset="0"/>
              <a:buChar char="•"/>
            </a:pPr>
            <a:r>
              <a:rPr lang="en-US" sz="2200" dirty="0"/>
              <a:t>Best suited for </a:t>
            </a:r>
            <a:r>
              <a:rPr lang="en-US" sz="2200" b="1" dirty="0"/>
              <a:t>large-scale datasets</a:t>
            </a:r>
            <a:r>
              <a:rPr lang="en-US" sz="2200" dirty="0"/>
              <a:t> with many features.</a:t>
            </a:r>
          </a:p>
          <a:p>
            <a:pPr>
              <a:lnSpc>
                <a:spcPct val="90000"/>
              </a:lnSpc>
              <a:spcAft>
                <a:spcPts val="600"/>
              </a:spcAft>
              <a:buFont typeface="Arial" panose="020B0604020202020204" pitchFamily="34" charset="0"/>
              <a:buChar char="•"/>
            </a:pPr>
            <a:r>
              <a:rPr lang="en-US" sz="2200" dirty="0"/>
              <a:t>Can handle </a:t>
            </a:r>
            <a:r>
              <a:rPr lang="en-US" sz="2200" b="1" dirty="0"/>
              <a:t>complex, non-linear relationships</a:t>
            </a:r>
            <a:r>
              <a:rPr lang="en-US" sz="2200" dirty="0"/>
              <a:t> in CO₂ emissions data.</a:t>
            </a:r>
          </a:p>
          <a:p>
            <a:pPr>
              <a:lnSpc>
                <a:spcPct val="90000"/>
              </a:lnSpc>
              <a:spcAft>
                <a:spcPts val="600"/>
              </a:spcAft>
              <a:buFont typeface="Arial" panose="020B0604020202020204" pitchFamily="34" charset="0"/>
              <a:buChar char="•"/>
            </a:pPr>
            <a:r>
              <a:rPr lang="en-US" sz="2200" dirty="0"/>
              <a:t>May overfit on </a:t>
            </a:r>
            <a:r>
              <a:rPr lang="en-US" sz="2200" b="1" dirty="0"/>
              <a:t>small datasets</a:t>
            </a:r>
            <a:r>
              <a:rPr lang="en-US" sz="2200" dirty="0"/>
              <a:t>, so needs tuning.</a:t>
            </a:r>
          </a:p>
          <a:p>
            <a:pPr>
              <a:lnSpc>
                <a:spcPct val="90000"/>
              </a:lnSpc>
              <a:spcAft>
                <a:spcPts val="600"/>
              </a:spcAft>
              <a:buFont typeface="Arial" panose="020B0604020202020204" pitchFamily="34" charset="0"/>
              <a:buChar char="•"/>
            </a:pPr>
            <a:endParaRPr lang="en-US" sz="2200" dirty="0"/>
          </a:p>
        </p:txBody>
      </p:sp>
      <p:pic>
        <p:nvPicPr>
          <p:cNvPr id="6" name="Picture 5">
            <a:extLst>
              <a:ext uri="{FF2B5EF4-FFF2-40B4-BE49-F238E27FC236}">
                <a16:creationId xmlns:a16="http://schemas.microsoft.com/office/drawing/2014/main" id="{6DE4F27D-7214-3735-477D-D122E33CB7BD}"/>
              </a:ext>
            </a:extLst>
          </p:cNvPr>
          <p:cNvPicPr>
            <a:picLocks noChangeAspect="1"/>
          </p:cNvPicPr>
          <p:nvPr/>
        </p:nvPicPr>
        <p:blipFill>
          <a:blip r:embed="rId2">
            <a:extLst>
              <a:ext uri="{28A0092B-C50C-407E-A947-70E740481C1C}">
                <a14:useLocalDpi xmlns:a14="http://schemas.microsoft.com/office/drawing/2010/main" val="0"/>
              </a:ext>
            </a:extLst>
          </a:blip>
          <a:srcRect l="3542" r="6639"/>
          <a:stretch/>
        </p:blipFill>
        <p:spPr>
          <a:xfrm>
            <a:off x="6912077" y="1911493"/>
            <a:ext cx="4867289" cy="4064308"/>
          </a:xfrm>
          <a:prstGeom prst="rect">
            <a:avLst/>
          </a:prstGeom>
        </p:spPr>
      </p:pic>
    </p:spTree>
    <p:extLst>
      <p:ext uri="{BB962C8B-B14F-4D97-AF65-F5344CB8AC3E}">
        <p14:creationId xmlns:p14="http://schemas.microsoft.com/office/powerpoint/2010/main" val="100337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9700C05-8470-B5E1-71A6-767B7FBF2546}"/>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spcBef>
                <a:spcPct val="0"/>
              </a:spcBef>
            </a:pPr>
            <a:r>
              <a:rPr lang="en-US" sz="5400" b="1"/>
              <a:t>SVM(SUPPORT VECTOR MACHINE)</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1">
            <a:extLst>
              <a:ext uri="{FF2B5EF4-FFF2-40B4-BE49-F238E27FC236}">
                <a16:creationId xmlns:a16="http://schemas.microsoft.com/office/drawing/2014/main" id="{3C071056-ED3F-3EB3-5FB1-EB17220B4BBE}"/>
              </a:ext>
            </a:extLst>
          </p:cNvPr>
          <p:cNvSpPr>
            <a:spLocks noGrp="1"/>
          </p:cNvSpPr>
          <p:nvPr>
            <p:ph type="subTitle" idx="1"/>
          </p:nvPr>
        </p:nvSpPr>
        <p:spPr>
          <a:xfrm>
            <a:off x="572493" y="2071316"/>
            <a:ext cx="6713552" cy="4119172"/>
          </a:xfrm>
        </p:spPr>
        <p:txBody>
          <a:bodyPr vert="horz" lIns="91440" tIns="45720" rIns="91440" bIns="45720" rtlCol="0" anchor="t">
            <a:normAutofit/>
          </a:bodyPr>
          <a:lstStyle/>
          <a:p>
            <a:pPr>
              <a:lnSpc>
                <a:spcPct val="90000"/>
              </a:lnSpc>
              <a:spcAft>
                <a:spcPts val="600"/>
              </a:spcAft>
              <a:buFont typeface="Arial" panose="020B0604020202020204" pitchFamily="34" charset="0"/>
              <a:buChar char="•"/>
            </a:pPr>
            <a:r>
              <a:rPr lang="en-US" sz="2000"/>
              <a:t>A powerful supervised learning algorithm for </a:t>
            </a:r>
            <a:r>
              <a:rPr lang="en-US" sz="2000" b="1"/>
              <a:t>classification and regression.</a:t>
            </a:r>
            <a:endParaRPr lang="en-US" sz="2000"/>
          </a:p>
          <a:p>
            <a:pPr>
              <a:lnSpc>
                <a:spcPct val="90000"/>
              </a:lnSpc>
              <a:spcAft>
                <a:spcPts val="600"/>
              </a:spcAft>
              <a:buFont typeface="Arial" panose="020B0604020202020204" pitchFamily="34" charset="0"/>
              <a:buChar char="•"/>
            </a:pPr>
            <a:r>
              <a:rPr lang="en-US" sz="2000"/>
              <a:t>Finds the </a:t>
            </a:r>
            <a:r>
              <a:rPr lang="en-US" sz="2000" b="1"/>
              <a:t>optimal hyperplane</a:t>
            </a:r>
            <a:r>
              <a:rPr lang="en-US" sz="2000"/>
              <a:t> that separates data points.</a:t>
            </a:r>
          </a:p>
          <a:p>
            <a:pPr>
              <a:lnSpc>
                <a:spcPct val="90000"/>
              </a:lnSpc>
              <a:spcAft>
                <a:spcPts val="600"/>
              </a:spcAft>
              <a:buFont typeface="Arial" panose="020B0604020202020204" pitchFamily="34" charset="0"/>
              <a:buChar char="•"/>
            </a:pPr>
            <a:r>
              <a:rPr lang="en-US" sz="2000"/>
              <a:t>Can be extended to </a:t>
            </a:r>
            <a:r>
              <a:rPr lang="en-US" sz="2000" b="1"/>
              <a:t>non-linear problems</a:t>
            </a:r>
            <a:r>
              <a:rPr lang="en-US" sz="2000"/>
              <a:t> using </a:t>
            </a:r>
            <a:r>
              <a:rPr lang="en-US" sz="2000" b="1"/>
              <a:t>kernel trick</a:t>
            </a:r>
            <a:r>
              <a:rPr lang="en-US" sz="2000"/>
              <a:t> (e.g., RBF).</a:t>
            </a:r>
          </a:p>
          <a:p>
            <a:pPr>
              <a:lnSpc>
                <a:spcPct val="90000"/>
              </a:lnSpc>
              <a:spcAft>
                <a:spcPts val="600"/>
              </a:spcAft>
              <a:buFont typeface="Arial" panose="020B0604020202020204" pitchFamily="34" charset="0"/>
              <a:buChar char="•"/>
            </a:pPr>
            <a:r>
              <a:rPr lang="en-US" sz="2000"/>
              <a:t>Effective in </a:t>
            </a:r>
            <a:r>
              <a:rPr lang="en-US" sz="2000" b="1"/>
              <a:t>high-dimensional spaces</a:t>
            </a:r>
            <a:r>
              <a:rPr lang="en-US" sz="2000"/>
              <a:t>, especially with fewer samples.</a:t>
            </a:r>
          </a:p>
          <a:p>
            <a:pPr>
              <a:lnSpc>
                <a:spcPct val="90000"/>
              </a:lnSpc>
              <a:spcAft>
                <a:spcPts val="600"/>
              </a:spcAft>
              <a:buFont typeface="Arial" panose="020B0604020202020204" pitchFamily="34" charset="0"/>
              <a:buChar char="•"/>
            </a:pPr>
            <a:r>
              <a:rPr lang="en-US" sz="2000" b="1"/>
              <a:t>Robust to outliers</a:t>
            </a:r>
            <a:r>
              <a:rPr lang="en-US" sz="2000"/>
              <a:t>, especially with a good kernel choice.</a:t>
            </a:r>
          </a:p>
          <a:p>
            <a:pPr>
              <a:lnSpc>
                <a:spcPct val="90000"/>
              </a:lnSpc>
              <a:spcAft>
                <a:spcPts val="600"/>
              </a:spcAft>
              <a:buFont typeface="Arial" panose="020B0604020202020204" pitchFamily="34" charset="0"/>
              <a:buChar char="•"/>
            </a:pPr>
            <a:r>
              <a:rPr lang="en-US" sz="2000"/>
              <a:t>Requires </a:t>
            </a:r>
            <a:r>
              <a:rPr lang="en-US" sz="2000" b="1"/>
              <a:t>feature scaling</a:t>
            </a:r>
            <a:r>
              <a:rPr lang="en-US" sz="2000"/>
              <a:t> and </a:t>
            </a:r>
            <a:r>
              <a:rPr lang="en-US" sz="2000" b="1"/>
              <a:t>parameter tuning</a:t>
            </a:r>
            <a:r>
              <a:rPr lang="en-US" sz="2000"/>
              <a:t> (C, gamma).</a:t>
            </a:r>
          </a:p>
          <a:p>
            <a:pPr>
              <a:lnSpc>
                <a:spcPct val="90000"/>
              </a:lnSpc>
              <a:spcAft>
                <a:spcPts val="600"/>
              </a:spcAft>
              <a:buFont typeface="Arial" panose="020B0604020202020204" pitchFamily="34" charset="0"/>
              <a:buChar char="•"/>
            </a:pPr>
            <a:r>
              <a:rPr lang="en-US" sz="2000"/>
              <a:t>In emissions forecasting, SVM captures </a:t>
            </a:r>
            <a:r>
              <a:rPr lang="en-US" sz="2000" b="1"/>
              <a:t>non-linear temporal trends</a:t>
            </a:r>
            <a:r>
              <a:rPr lang="en-US" sz="2000"/>
              <a:t>.</a:t>
            </a:r>
          </a:p>
          <a:p>
            <a:pPr>
              <a:lnSpc>
                <a:spcPct val="90000"/>
              </a:lnSpc>
              <a:spcAft>
                <a:spcPts val="600"/>
              </a:spcAft>
              <a:buFont typeface="Arial" panose="020B0604020202020204" pitchFamily="34" charset="0"/>
              <a:buChar char="•"/>
            </a:pPr>
            <a:endParaRPr lang="en-US" sz="2000"/>
          </a:p>
        </p:txBody>
      </p:sp>
      <p:pic>
        <p:nvPicPr>
          <p:cNvPr id="6" name="Picture 5">
            <a:extLst>
              <a:ext uri="{FF2B5EF4-FFF2-40B4-BE49-F238E27FC236}">
                <a16:creationId xmlns:a16="http://schemas.microsoft.com/office/drawing/2014/main" id="{78906586-AE6A-4C3B-A5DC-711277EE2BEF}"/>
              </a:ext>
            </a:extLst>
          </p:cNvPr>
          <p:cNvPicPr>
            <a:picLocks noChangeAspect="1"/>
          </p:cNvPicPr>
          <p:nvPr/>
        </p:nvPicPr>
        <p:blipFill>
          <a:blip r:embed="rId2">
            <a:extLst>
              <a:ext uri="{28A0092B-C50C-407E-A947-70E740481C1C}">
                <a14:useLocalDpi xmlns:a14="http://schemas.microsoft.com/office/drawing/2010/main" val="0"/>
              </a:ext>
            </a:extLst>
          </a:blip>
          <a:srcRect l="2778" t="-535" r="6237" b="535"/>
          <a:stretch/>
        </p:blipFill>
        <p:spPr>
          <a:xfrm>
            <a:off x="7193280" y="1911493"/>
            <a:ext cx="4607046" cy="3797733"/>
          </a:xfrm>
          <a:prstGeom prst="rect">
            <a:avLst/>
          </a:prstGeom>
        </p:spPr>
      </p:pic>
    </p:spTree>
    <p:extLst>
      <p:ext uri="{BB962C8B-B14F-4D97-AF65-F5344CB8AC3E}">
        <p14:creationId xmlns:p14="http://schemas.microsoft.com/office/powerpoint/2010/main" val="769912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A5ABF55-FD3D-6CE1-B3D2-6DA1DDD45C55}"/>
              </a:ext>
            </a:extLst>
          </p:cNvPr>
          <p:cNvSpPr>
            <a:spLocks noGrp="1"/>
          </p:cNvSpPr>
          <p:nvPr>
            <p:ph type="title"/>
          </p:nvPr>
        </p:nvSpPr>
        <p:spPr>
          <a:xfrm>
            <a:off x="630936" y="639520"/>
            <a:ext cx="3429000" cy="1719072"/>
          </a:xfrm>
        </p:spPr>
        <p:txBody>
          <a:bodyPr vert="horz" lIns="91440" tIns="45720" rIns="91440" bIns="45720" rtlCol="0" anchor="b">
            <a:normAutofit/>
          </a:bodyPr>
          <a:lstStyle/>
          <a:p>
            <a:pPr>
              <a:spcBef>
                <a:spcPct val="0"/>
              </a:spcBef>
            </a:pPr>
            <a:r>
              <a:rPr lang="en-US" sz="5400" b="1" kern="1200">
                <a:solidFill>
                  <a:schemeClr val="tx1"/>
                </a:solidFill>
                <a:latin typeface="+mj-lt"/>
                <a:ea typeface="+mj-ea"/>
                <a:cs typeface="+mj-cs"/>
              </a:rPr>
              <a:t>LSTM MODEL</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890E042C-39E7-5AEB-92C2-CF7C05426FFD}"/>
              </a:ext>
            </a:extLst>
          </p:cNvPr>
          <p:cNvSpPr>
            <a:spLocks noGrp="1" noChangeArrowheads="1"/>
          </p:cNvSpPr>
          <p:nvPr>
            <p:ph type="subTitle" idx="1"/>
          </p:nvPr>
        </p:nvSpPr>
        <p:spPr bwMode="auto">
          <a:xfrm>
            <a:off x="630936" y="2807208"/>
            <a:ext cx="3429000"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t" anchorCtr="0" compatLnSpc="1">
            <a:prstTxWarp prst="textNoShape">
              <a:avLst/>
            </a:prstTxWarp>
            <a:noAutofit/>
          </a:bodyPr>
          <a:lstStyle/>
          <a:p>
            <a:pPr marL="0" marR="0" lvl="0" fontAlgn="base">
              <a:lnSpc>
                <a:spcPct val="9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a:ln>
                  <a:noFill/>
                </a:ln>
                <a:effectLst/>
              </a:rPr>
              <a:t>A special type of </a:t>
            </a:r>
            <a:r>
              <a:rPr kumimoji="0" lang="en-US" altLang="en-US" sz="1200" b="1" i="0" u="none" strike="noStrike" cap="none" normalizeH="0" baseline="0">
                <a:ln>
                  <a:noFill/>
                </a:ln>
                <a:effectLst/>
              </a:rPr>
              <a:t>Recurrent Neural Network (RNN)</a:t>
            </a:r>
            <a:r>
              <a:rPr kumimoji="0" lang="en-US" altLang="en-US" sz="1200" b="0" i="0" u="none" strike="noStrike" cap="none" normalizeH="0" baseline="0">
                <a:ln>
                  <a:noFill/>
                </a:ln>
                <a:effectLst/>
              </a:rPr>
              <a:t> designed to handle </a:t>
            </a:r>
            <a:r>
              <a:rPr kumimoji="0" lang="en-US" altLang="en-US" sz="1200" b="1" i="0" u="none" strike="noStrike" cap="none" normalizeH="0" baseline="0">
                <a:ln>
                  <a:noFill/>
                </a:ln>
                <a:effectLst/>
              </a:rPr>
              <a:t>sequential/time series data</a:t>
            </a:r>
            <a:r>
              <a:rPr kumimoji="0" lang="en-US" altLang="en-US" sz="1200" b="0" i="0" u="none" strike="noStrike" cap="none" normalizeH="0" baseline="0">
                <a:ln>
                  <a:noFill/>
                </a:ln>
                <a:effectLst/>
              </a:rPr>
              <a:t>.</a:t>
            </a:r>
            <a:endParaRPr lang="en-US" altLang="en-US" sz="1200" b="0" i="0" u="none" strike="noStrike" cap="none" normalizeH="0" baseline="0">
              <a:ln>
                <a:noFill/>
              </a:ln>
              <a:effectLst/>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a:ln>
                  <a:noFill/>
                </a:ln>
                <a:effectLst/>
              </a:rPr>
              <a:t>Excels at learning </a:t>
            </a:r>
            <a:r>
              <a:rPr kumimoji="0" lang="en-US" altLang="en-US" sz="1200" b="1" i="0" u="none" strike="noStrike" cap="none" normalizeH="0" baseline="0">
                <a:ln>
                  <a:noFill/>
                </a:ln>
                <a:effectLst/>
              </a:rPr>
              <a:t>temporal dependencies</a:t>
            </a:r>
            <a:r>
              <a:rPr kumimoji="0" lang="en-US" altLang="en-US" sz="1200" b="0" i="0" u="none" strike="noStrike" cap="none" normalizeH="0" baseline="0">
                <a:ln>
                  <a:noFill/>
                </a:ln>
                <a:effectLst/>
              </a:rPr>
              <a:t> — trends and patterns over time.</a:t>
            </a:r>
            <a:endParaRPr lang="en-US" altLang="en-US" sz="1200" b="0" i="0" u="none" strike="noStrike" cap="none" normalizeH="0" baseline="0">
              <a:ln>
                <a:noFill/>
              </a:ln>
              <a:effectLst/>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a:ln>
                  <a:noFill/>
                </a:ln>
                <a:effectLst/>
              </a:rPr>
              <a:t>Uses </a:t>
            </a:r>
            <a:r>
              <a:rPr kumimoji="0" lang="en-US" altLang="en-US" sz="1200" b="1" i="0" u="none" strike="noStrike" cap="none" normalizeH="0" baseline="0">
                <a:ln>
                  <a:noFill/>
                </a:ln>
                <a:effectLst/>
              </a:rPr>
              <a:t>memory cells</a:t>
            </a:r>
            <a:r>
              <a:rPr kumimoji="0" lang="en-US" altLang="en-US" sz="1200" b="0" i="0" u="none" strike="noStrike" cap="none" normalizeH="0" baseline="0">
                <a:ln>
                  <a:noFill/>
                </a:ln>
                <a:effectLst/>
              </a:rPr>
              <a:t> to remember information for long periods.</a:t>
            </a:r>
            <a:endParaRPr lang="en-US" altLang="en-US" sz="1200" b="0" i="0" u="none" strike="noStrike" cap="none" normalizeH="0" baseline="0">
              <a:ln>
                <a:noFill/>
              </a:ln>
              <a:effectLst/>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a:ln>
                  <a:noFill/>
                </a:ln>
                <a:effectLst/>
              </a:rPr>
              <a:t>Solves the </a:t>
            </a:r>
            <a:r>
              <a:rPr kumimoji="0" lang="en-US" altLang="en-US" sz="1200" b="1" i="0" u="none" strike="noStrike" cap="none" normalizeH="0" baseline="0">
                <a:ln>
                  <a:noFill/>
                </a:ln>
                <a:effectLst/>
              </a:rPr>
              <a:t>vanishing gradient problem</a:t>
            </a:r>
            <a:r>
              <a:rPr kumimoji="0" lang="en-US" altLang="en-US" sz="1200" b="0" i="0" u="none" strike="noStrike" cap="none" normalizeH="0" baseline="0">
                <a:ln>
                  <a:noFill/>
                </a:ln>
                <a:effectLst/>
              </a:rPr>
              <a:t> found in traditional RNNs.</a:t>
            </a:r>
            <a:endParaRPr lang="en-US" altLang="en-US" sz="1200" b="0" i="0" u="none" strike="noStrike" cap="none" normalizeH="0" baseline="0">
              <a:ln>
                <a:noFill/>
              </a:ln>
              <a:effectLst/>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a:ln>
                  <a:noFill/>
                </a:ln>
                <a:effectLst/>
              </a:rPr>
              <a:t>Has </a:t>
            </a:r>
            <a:r>
              <a:rPr kumimoji="0" lang="en-US" altLang="en-US" sz="1200" b="1" i="0" u="none" strike="noStrike" cap="none" normalizeH="0" baseline="0">
                <a:ln>
                  <a:noFill/>
                </a:ln>
                <a:effectLst/>
              </a:rPr>
              <a:t>three </a:t>
            </a:r>
            <a:r>
              <a:rPr kumimoji="0" lang="en-US" altLang="en-US" sz="1200" b="1" i="0" u="none" strike="noStrike" cap="none" normalizeH="0" baseline="0" err="1">
                <a:ln>
                  <a:noFill/>
                </a:ln>
                <a:effectLst/>
              </a:rPr>
              <a:t>gates</a:t>
            </a:r>
            <a:r>
              <a:rPr kumimoji="0" lang="en-US" altLang="en-US" sz="1200" b="0" i="0" u="none" strike="noStrike" cap="none" normalizeH="0" baseline="0">
                <a:ln>
                  <a:noFill/>
                </a:ln>
                <a:effectLst/>
              </a:rPr>
              <a:t>:</a:t>
            </a:r>
            <a:endParaRPr lang="en-US" altLang="en-US" sz="1200" b="0" i="0" u="none" strike="noStrike" cap="none" normalizeH="0" baseline="0">
              <a:ln>
                <a:noFill/>
              </a:ln>
              <a:effectLst/>
              <a:ea typeface="Calibri"/>
              <a:cs typeface="Calibri"/>
            </a:endParaRPr>
          </a:p>
          <a:p>
            <a:pPr marL="457200" marR="0" lvl="1" fontAlgn="base">
              <a:lnSpc>
                <a:spcPct val="90000"/>
              </a:lnSpc>
              <a:spcBef>
                <a:spcPct val="0"/>
              </a:spcBef>
              <a:spcAft>
                <a:spcPts val="600"/>
              </a:spcAft>
              <a:buClrTx/>
              <a:buSzTx/>
              <a:buFont typeface="Courier New" panose="020B0604020202020204" pitchFamily="34" charset="0"/>
              <a:buChar char="o"/>
              <a:tabLst/>
            </a:pPr>
            <a:r>
              <a:rPr kumimoji="0" lang="en-US" altLang="en-US" sz="1200" b="1" i="0" u="none" strike="noStrike" cap="none" normalizeH="0" baseline="0">
                <a:ln>
                  <a:noFill/>
                </a:ln>
                <a:effectLst/>
              </a:rPr>
              <a:t>Input gate</a:t>
            </a:r>
            <a:r>
              <a:rPr kumimoji="0" lang="en-US" altLang="en-US" sz="1200" b="0" i="0" u="none" strike="noStrike" cap="none" normalizeH="0" baseline="0">
                <a:ln>
                  <a:noFill/>
                </a:ln>
                <a:effectLst/>
              </a:rPr>
              <a:t> – controls what new information is stored.</a:t>
            </a:r>
            <a:endParaRPr lang="en-US" altLang="en-US" sz="1200" b="0" i="0" u="none" strike="noStrike" cap="none" normalizeH="0" baseline="0">
              <a:ln>
                <a:noFill/>
              </a:ln>
              <a:effectLst/>
              <a:ea typeface="Calibri"/>
              <a:cs typeface="Calibri"/>
            </a:endParaRPr>
          </a:p>
          <a:p>
            <a:pPr marL="457200" marR="0" lvl="1" fontAlgn="base">
              <a:lnSpc>
                <a:spcPct val="90000"/>
              </a:lnSpc>
              <a:spcBef>
                <a:spcPct val="0"/>
              </a:spcBef>
              <a:spcAft>
                <a:spcPts val="600"/>
              </a:spcAft>
              <a:buClrTx/>
              <a:buSzTx/>
              <a:buFont typeface="Courier New" panose="020B0604020202020204" pitchFamily="34" charset="0"/>
              <a:buChar char="o"/>
              <a:tabLst/>
            </a:pPr>
            <a:r>
              <a:rPr kumimoji="0" lang="en-US" altLang="en-US" sz="1200" b="1" i="0" u="none" strike="noStrike" cap="none" normalizeH="0" baseline="0">
                <a:ln>
                  <a:noFill/>
                </a:ln>
                <a:effectLst/>
              </a:rPr>
              <a:t>Forget gate</a:t>
            </a:r>
            <a:r>
              <a:rPr kumimoji="0" lang="en-US" altLang="en-US" sz="1200" b="0" i="0" u="none" strike="noStrike" cap="none" normalizeH="0" baseline="0">
                <a:ln>
                  <a:noFill/>
                </a:ln>
                <a:effectLst/>
              </a:rPr>
              <a:t> – decides what information to discard.</a:t>
            </a:r>
            <a:endParaRPr lang="en-US" altLang="en-US" sz="1200" b="0" i="0" u="none" strike="noStrike" cap="none" normalizeH="0" baseline="0">
              <a:ln>
                <a:noFill/>
              </a:ln>
              <a:effectLst/>
              <a:ea typeface="Calibri"/>
              <a:cs typeface="Calibri"/>
            </a:endParaRPr>
          </a:p>
          <a:p>
            <a:pPr marL="457200" marR="0" lvl="1" fontAlgn="base">
              <a:lnSpc>
                <a:spcPct val="90000"/>
              </a:lnSpc>
              <a:spcBef>
                <a:spcPct val="0"/>
              </a:spcBef>
              <a:spcAft>
                <a:spcPts val="600"/>
              </a:spcAft>
              <a:buClrTx/>
              <a:buSzTx/>
              <a:buFont typeface="Courier New" panose="020B0604020202020204" pitchFamily="34" charset="0"/>
              <a:buChar char="o"/>
              <a:tabLst/>
            </a:pPr>
            <a:r>
              <a:rPr kumimoji="0" lang="en-US" altLang="en-US" sz="1200" b="1" i="0" u="none" strike="noStrike" cap="none" normalizeH="0" baseline="0">
                <a:ln>
                  <a:noFill/>
                </a:ln>
                <a:effectLst/>
              </a:rPr>
              <a:t>Output gate</a:t>
            </a:r>
            <a:r>
              <a:rPr kumimoji="0" lang="en-US" altLang="en-US" sz="1200" b="0" i="0" u="none" strike="noStrike" cap="none" normalizeH="0" baseline="0">
                <a:ln>
                  <a:noFill/>
                </a:ln>
                <a:effectLst/>
              </a:rPr>
              <a:t> – selects what information to output.</a:t>
            </a:r>
            <a:endParaRPr lang="en-US" altLang="en-US" sz="1200" b="0" i="0" u="none" strike="noStrike" cap="none" normalizeH="0" baseline="0">
              <a:ln>
                <a:noFill/>
              </a:ln>
              <a:effectLst/>
              <a:ea typeface="Calibri"/>
              <a:cs typeface="Calibri"/>
            </a:endParaRPr>
          </a:p>
          <a:p>
            <a:pPr marL="0" fontAlgn="base">
              <a:lnSpc>
                <a:spcPct val="90000"/>
              </a:lnSpc>
              <a:spcBef>
                <a:spcPct val="0"/>
              </a:spcBef>
              <a:spcAft>
                <a:spcPts val="600"/>
              </a:spcAft>
              <a:buFont typeface="Arial" panose="020B0604020202020204" pitchFamily="34" charset="0"/>
              <a:buChar char="•"/>
            </a:pPr>
            <a:r>
              <a:rPr lang="en-US" sz="1200"/>
              <a:t>Performs well in modeling </a:t>
            </a:r>
            <a:r>
              <a:rPr lang="en-US" sz="1200" b="1"/>
              <a:t>non-linear, complex temporal relationships</a:t>
            </a:r>
            <a:r>
              <a:rPr lang="en-US" sz="1200"/>
              <a:t>.</a:t>
            </a:r>
            <a:endParaRPr lang="en-US" sz="1200">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endParaRPr lang="en-US" altLang="en-US" sz="1200" b="0" i="0" u="none" strike="noStrike" cap="none" normalizeH="0" baseline="0">
              <a:ln>
                <a:noFill/>
              </a:ln>
              <a:effectLst/>
              <a:ea typeface="Calibri"/>
              <a:cs typeface="Calibri"/>
            </a:endParaRPr>
          </a:p>
          <a:p>
            <a:pPr marL="0" marR="0" lvl="0" fontAlgn="base">
              <a:lnSpc>
                <a:spcPct val="90000"/>
              </a:lnSpc>
              <a:spcBef>
                <a:spcPct val="0"/>
              </a:spcBef>
              <a:spcAft>
                <a:spcPts val="600"/>
              </a:spcAft>
              <a:buClrTx/>
              <a:buSzTx/>
              <a:buFont typeface="Arial" panose="020B0604020202020204" pitchFamily="34" charset="0"/>
              <a:buChar char="•"/>
              <a:tabLst/>
            </a:pPr>
            <a:endParaRPr lang="en-US" altLang="en-US" sz="1200" b="0" i="0" u="none" strike="noStrike" cap="none" normalizeH="0" baseline="0">
              <a:ln>
                <a:noFill/>
              </a:ln>
              <a:effectLst/>
              <a:ea typeface="Calibri"/>
              <a:cs typeface="Calibri"/>
            </a:endParaRPr>
          </a:p>
        </p:txBody>
      </p:sp>
      <p:pic>
        <p:nvPicPr>
          <p:cNvPr id="2" name="Picture 1" descr="A graph with blue and red lines&#10;&#10;AI-generated content may be incorrect.">
            <a:extLst>
              <a:ext uri="{FF2B5EF4-FFF2-40B4-BE49-F238E27FC236}">
                <a16:creationId xmlns:a16="http://schemas.microsoft.com/office/drawing/2014/main" id="{F5CA4D20-07AF-7832-1A3B-A9DD477C0BC3}"/>
              </a:ext>
            </a:extLst>
          </p:cNvPr>
          <p:cNvPicPr>
            <a:picLocks noChangeAspect="1"/>
          </p:cNvPicPr>
          <p:nvPr/>
        </p:nvPicPr>
        <p:blipFill>
          <a:blip r:embed="rId2"/>
          <a:stretch>
            <a:fillRect/>
          </a:stretch>
        </p:blipFill>
        <p:spPr>
          <a:xfrm>
            <a:off x="4654296" y="814216"/>
            <a:ext cx="6903720" cy="5229567"/>
          </a:xfrm>
          <a:prstGeom prst="rect">
            <a:avLst/>
          </a:prstGeom>
        </p:spPr>
      </p:pic>
    </p:spTree>
    <p:extLst>
      <p:ext uri="{BB962C8B-B14F-4D97-AF65-F5344CB8AC3E}">
        <p14:creationId xmlns:p14="http://schemas.microsoft.com/office/powerpoint/2010/main" val="1005628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BBDF63-CEA8-1530-42EC-B3526DF107E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7580BEC-F8C7-113B-4B80-91FF4FF5F547}"/>
              </a:ext>
            </a:extLst>
          </p:cNvPr>
          <p:cNvPicPr>
            <a:picLocks noChangeAspect="1"/>
          </p:cNvPicPr>
          <p:nvPr/>
        </p:nvPicPr>
        <p:blipFill>
          <a:blip r:embed="rId2">
            <a:extLst>
              <a:ext uri="{28A0092B-C50C-407E-A947-70E740481C1C}">
                <a14:useLocalDpi xmlns:a14="http://schemas.microsoft.com/office/drawing/2010/main" val="0"/>
              </a:ext>
            </a:extLst>
          </a:blip>
          <a:srcRect t="497" b="497"/>
          <a:stretch/>
        </p:blipFill>
        <p:spPr>
          <a:xfrm>
            <a:off x="838200" y="754148"/>
            <a:ext cx="10515600" cy="4995575"/>
          </a:xfrm>
          <a:prstGeom prst="rect">
            <a:avLst/>
          </a:prstGeom>
        </p:spPr>
      </p:pic>
      <p:cxnSp>
        <p:nvCxnSpPr>
          <p:cNvPr id="23" name="Straight Connector 22">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549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A4AF9-32D0-58D1-716C-A03AA3DD84CA}"/>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3ED44B2-0C1F-7289-0A86-9A945187B9D0}"/>
              </a:ext>
            </a:extLst>
          </p:cNvPr>
          <p:cNvPicPr>
            <a:picLocks noChangeAspect="1"/>
          </p:cNvPicPr>
          <p:nvPr/>
        </p:nvPicPr>
        <p:blipFill>
          <a:blip r:embed="rId2">
            <a:extLst>
              <a:ext uri="{28A0092B-C50C-407E-A947-70E740481C1C}">
                <a14:useLocalDpi xmlns:a14="http://schemas.microsoft.com/office/drawing/2010/main" val="0"/>
              </a:ext>
            </a:extLst>
          </a:blip>
          <a:srcRect r="5778"/>
          <a:stretch/>
        </p:blipFill>
        <p:spPr>
          <a:xfrm>
            <a:off x="20" y="10"/>
            <a:ext cx="12191980" cy="6857990"/>
          </a:xfrm>
          <a:prstGeom prst="rect">
            <a:avLst/>
          </a:prstGeom>
          <a:noFill/>
        </p:spPr>
      </p:pic>
    </p:spTree>
    <p:extLst>
      <p:ext uri="{BB962C8B-B14F-4D97-AF65-F5344CB8AC3E}">
        <p14:creationId xmlns:p14="http://schemas.microsoft.com/office/powerpoint/2010/main" val="757340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B0E6C-2983-4BA1-FF31-E5C41DBA87F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1D93D306-9CE4-797F-AC1D-5B3FCA076B52}"/>
              </a:ext>
            </a:extLst>
          </p:cNvPr>
          <p:cNvPicPr>
            <a:picLocks noChangeAspect="1"/>
          </p:cNvPicPr>
          <p:nvPr/>
        </p:nvPicPr>
        <p:blipFill>
          <a:blip r:embed="rId2">
            <a:extLst>
              <a:ext uri="{28A0092B-C50C-407E-A947-70E740481C1C}">
                <a14:useLocalDpi xmlns:a14="http://schemas.microsoft.com/office/drawing/2010/main" val="0"/>
              </a:ext>
            </a:extLst>
          </a:blip>
          <a:srcRect r="6221" b="-1"/>
          <a:stretch/>
        </p:blipFill>
        <p:spPr>
          <a:xfrm>
            <a:off x="20" y="10"/>
            <a:ext cx="12191980" cy="6857990"/>
          </a:xfrm>
          <a:prstGeom prst="rect">
            <a:avLst/>
          </a:prstGeom>
          <a:noFill/>
        </p:spPr>
      </p:pic>
    </p:spTree>
    <p:extLst>
      <p:ext uri="{BB962C8B-B14F-4D97-AF65-F5344CB8AC3E}">
        <p14:creationId xmlns:p14="http://schemas.microsoft.com/office/powerpoint/2010/main" val="34222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2941-2BF4-A068-D21B-3D5B1A310A1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39FB935-1FFC-8703-8D4E-2E41695B08BD}"/>
              </a:ext>
            </a:extLst>
          </p:cNvPr>
          <p:cNvPicPr>
            <a:picLocks noChangeAspect="1"/>
          </p:cNvPicPr>
          <p:nvPr/>
        </p:nvPicPr>
        <p:blipFill>
          <a:blip r:embed="rId2">
            <a:extLst>
              <a:ext uri="{28A0092B-C50C-407E-A947-70E740481C1C}">
                <a14:useLocalDpi xmlns:a14="http://schemas.microsoft.com/office/drawing/2010/main" val="0"/>
              </a:ext>
            </a:extLst>
          </a:blip>
          <a:srcRect l="2846" r="2846"/>
          <a:stretch/>
        </p:blipFill>
        <p:spPr>
          <a:xfrm>
            <a:off x="20" y="10"/>
            <a:ext cx="12191980" cy="6857990"/>
          </a:xfrm>
          <a:prstGeom prst="rect">
            <a:avLst/>
          </a:prstGeom>
          <a:noFill/>
        </p:spPr>
      </p:pic>
    </p:spTree>
    <p:extLst>
      <p:ext uri="{BB962C8B-B14F-4D97-AF65-F5344CB8AC3E}">
        <p14:creationId xmlns:p14="http://schemas.microsoft.com/office/powerpoint/2010/main" val="1027326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D516AE-5DE9-CB04-86EE-5178685D95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E403B89-3238-658D-BB05-7BAD1396F870}"/>
              </a:ext>
            </a:extLst>
          </p:cNvPr>
          <p:cNvSpPr>
            <a:spLocks noGrp="1"/>
          </p:cNvSpPr>
          <p:nvPr>
            <p:ph type="title"/>
          </p:nvPr>
        </p:nvSpPr>
        <p:spPr>
          <a:xfrm>
            <a:off x="686834" y="591344"/>
            <a:ext cx="3200400" cy="5585619"/>
          </a:xfrm>
        </p:spPr>
        <p:txBody>
          <a:bodyPr vert="horz" lIns="91440" tIns="45720" rIns="91440" bIns="45720" rtlCol="0" anchor="ctr">
            <a:normAutofit/>
          </a:bodyPr>
          <a:lstStyle/>
          <a:p>
            <a:pPr>
              <a:spcBef>
                <a:spcPct val="0"/>
              </a:spcBef>
            </a:pPr>
            <a:r>
              <a:rPr lang="en-US" b="1" kern="1200">
                <a:solidFill>
                  <a:srgbClr val="FFFFFF"/>
                </a:solidFill>
                <a:latin typeface="+mj-lt"/>
                <a:ea typeface="+mj-ea"/>
                <a:cs typeface="+mj-cs"/>
              </a:rPr>
              <a:t>REFERENCES</a:t>
            </a:r>
            <a:endParaRPr lang="en-US" kern="1200">
              <a:solidFill>
                <a:srgbClr val="FFFFFF"/>
              </a:solidFill>
              <a:latin typeface="+mj-lt"/>
              <a:ea typeface="+mj-ea"/>
              <a:cs typeface="+mj-cs"/>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Subtitle 1">
            <a:extLst>
              <a:ext uri="{FF2B5EF4-FFF2-40B4-BE49-F238E27FC236}">
                <a16:creationId xmlns:a16="http://schemas.microsoft.com/office/drawing/2014/main" id="{B788CA55-0C5D-0B5A-4D96-FAF742F15044}"/>
              </a:ext>
            </a:extLst>
          </p:cNvPr>
          <p:cNvSpPr>
            <a:spLocks noGrp="1"/>
          </p:cNvSpPr>
          <p:nvPr>
            <p:ph type="subTitle" idx="1"/>
          </p:nvPr>
        </p:nvSpPr>
        <p:spPr>
          <a:xfrm>
            <a:off x="4447308" y="591344"/>
            <a:ext cx="6906491" cy="5585619"/>
          </a:xfrm>
        </p:spPr>
        <p:txBody>
          <a:bodyPr vert="horz" lIns="91440" tIns="45720" rIns="91440" bIns="45720" rtlCol="0" anchor="ctr">
            <a:normAutofit/>
          </a:bodyPr>
          <a:lstStyle/>
          <a:p>
            <a:pPr>
              <a:lnSpc>
                <a:spcPct val="90000"/>
              </a:lnSpc>
              <a:spcAft>
                <a:spcPts val="600"/>
              </a:spcAft>
              <a:buFont typeface="Arial" panose="020B0604020202020204" pitchFamily="34" charset="0"/>
              <a:buChar char="•"/>
            </a:pPr>
            <a:r>
              <a:rPr lang="en-US" b="1"/>
              <a:t>Ajala AA, Adeoye OL, Salami OM, Jimoh AY</a:t>
            </a:r>
            <a:br>
              <a:rPr lang="en-US" b="1"/>
            </a:br>
            <a:r>
              <a:rPr lang="en-US" b="1"/>
              <a:t> </a:t>
            </a:r>
            <a:r>
              <a:rPr lang="en-US" i="1"/>
              <a:t>An examination of daily CO₂ emissions prediction through a comparative analysis of machine learning, deep learning, and statistical models</a:t>
            </a:r>
          </a:p>
          <a:p>
            <a:pPr>
              <a:lnSpc>
                <a:spcPct val="90000"/>
              </a:lnSpc>
              <a:spcAft>
                <a:spcPts val="600"/>
              </a:spcAft>
              <a:buFont typeface="Arial" panose="020B0604020202020204" pitchFamily="34" charset="0"/>
              <a:buChar char="•"/>
            </a:pPr>
            <a:endParaRPr lang="en-US" i="1"/>
          </a:p>
          <a:p>
            <a:pPr>
              <a:lnSpc>
                <a:spcPct val="90000"/>
              </a:lnSpc>
              <a:spcAft>
                <a:spcPts val="600"/>
              </a:spcAft>
              <a:buFont typeface="Arial" panose="020B0604020202020204" pitchFamily="34" charset="0"/>
              <a:buChar char="•"/>
            </a:pPr>
            <a:r>
              <a:rPr lang="en-US" b="1"/>
              <a:t>Kumar M, Thakur S, Singh S</a:t>
            </a:r>
            <a:br>
              <a:rPr lang="en-US" b="1"/>
            </a:br>
            <a:r>
              <a:rPr lang="en-US" b="1"/>
              <a:t> </a:t>
            </a:r>
            <a:r>
              <a:rPr lang="en-US" i="1"/>
              <a:t>Machine learning-based time series models for effective CO₂ emission prediction in India</a:t>
            </a:r>
            <a:endParaRPr lang="en-US"/>
          </a:p>
          <a:p>
            <a:pPr>
              <a:lnSpc>
                <a:spcPct val="90000"/>
              </a:lnSpc>
              <a:spcAft>
                <a:spcPts val="600"/>
              </a:spcAft>
              <a:buFont typeface="Arial" panose="020B0604020202020204" pitchFamily="34" charset="0"/>
              <a:buChar char="•"/>
            </a:pPr>
            <a:endParaRPr lang="en-US" i="1"/>
          </a:p>
          <a:p>
            <a:pPr>
              <a:lnSpc>
                <a:spcPct val="90000"/>
              </a:lnSpc>
              <a:spcAft>
                <a:spcPts val="600"/>
              </a:spcAft>
              <a:buFont typeface="Arial" panose="020B0604020202020204" pitchFamily="34" charset="0"/>
              <a:buChar char="•"/>
            </a:pPr>
            <a:r>
              <a:rPr lang="en-US" b="1"/>
              <a:t>Ullah I, Qureshi AS, Kim D</a:t>
            </a:r>
            <a:br>
              <a:rPr lang="en-US" b="1"/>
            </a:br>
            <a:r>
              <a:rPr lang="en-US" b="1"/>
              <a:t> </a:t>
            </a:r>
            <a:r>
              <a:rPr lang="en-US" i="1"/>
              <a:t>Predicting CO₂ Emission Footprint Using AI through Machine Learning</a:t>
            </a:r>
          </a:p>
          <a:p>
            <a:pPr>
              <a:lnSpc>
                <a:spcPct val="90000"/>
              </a:lnSpc>
              <a:spcAft>
                <a:spcPts val="600"/>
              </a:spcAft>
              <a:buFont typeface="Arial" panose="020B0604020202020204" pitchFamily="34" charset="0"/>
              <a:buChar char="•"/>
            </a:pPr>
            <a:endParaRPr lang="en-US" i="1"/>
          </a:p>
          <a:p>
            <a:pPr>
              <a:lnSpc>
                <a:spcPct val="90000"/>
              </a:lnSpc>
              <a:spcAft>
                <a:spcPts val="600"/>
              </a:spcAft>
              <a:buFont typeface="Arial" panose="020B0604020202020204" pitchFamily="34" charset="0"/>
              <a:buChar char="•"/>
            </a:pPr>
            <a:r>
              <a:rPr lang="en-US" b="1"/>
              <a:t>Xing Liu</a:t>
            </a:r>
            <a:br>
              <a:rPr lang="en-US" b="1"/>
            </a:br>
            <a:r>
              <a:rPr lang="en-US" b="1"/>
              <a:t> </a:t>
            </a:r>
            <a:r>
              <a:rPr lang="en-US" i="1"/>
              <a:t>CO₂ emissions prediction based on regression, neural network and SVM</a:t>
            </a:r>
            <a:endParaRPr lang="en-US"/>
          </a:p>
          <a:p>
            <a:pPr>
              <a:lnSpc>
                <a:spcPct val="90000"/>
              </a:lnSpc>
              <a:spcAft>
                <a:spcPts val="600"/>
              </a:spcAft>
              <a:buFont typeface="Arial" panose="020B0604020202020204" pitchFamily="34" charset="0"/>
              <a:buChar char="•"/>
            </a:pPr>
            <a:endParaRPr lang="en-US" i="1"/>
          </a:p>
          <a:p>
            <a:pPr>
              <a:lnSpc>
                <a:spcPct val="90000"/>
              </a:lnSpc>
              <a:spcAft>
                <a:spcPts val="600"/>
              </a:spcAft>
              <a:buFont typeface="Arial" panose="020B0604020202020204" pitchFamily="34" charset="0"/>
              <a:buChar char="•"/>
            </a:pPr>
            <a:r>
              <a:rPr lang="en-US" b="1"/>
              <a:t>Zhao B, Li J, Zhang Y</a:t>
            </a:r>
            <a:br>
              <a:rPr lang="en-US" b="1"/>
            </a:br>
            <a:r>
              <a:rPr lang="en-US" b="1"/>
              <a:t> </a:t>
            </a:r>
            <a:r>
              <a:rPr lang="en-US" i="1"/>
              <a:t>Machine learning approaches for predictions of CO₂ emissions in the building sector</a:t>
            </a:r>
            <a:endParaRPr lang="en-US"/>
          </a:p>
          <a:p>
            <a:pPr>
              <a:lnSpc>
                <a:spcPct val="90000"/>
              </a:lnSpc>
              <a:spcAft>
                <a:spcPts val="600"/>
              </a:spcAft>
              <a:buFont typeface="Arial" panose="020B0604020202020204" pitchFamily="34" charset="0"/>
              <a:buChar char="•"/>
            </a:pPr>
            <a:endParaRPr lang="en-US"/>
          </a:p>
          <a:p>
            <a:pPr>
              <a:lnSpc>
                <a:spcPct val="90000"/>
              </a:lnSpc>
              <a:spcAft>
                <a:spcPts val="600"/>
              </a:spcAft>
              <a:buFont typeface="Arial" panose="020B0604020202020204" pitchFamily="34" charset="0"/>
              <a:buChar char="•"/>
            </a:pPr>
            <a:endParaRPr lang="en-US"/>
          </a:p>
        </p:txBody>
      </p:sp>
    </p:spTree>
    <p:extLst>
      <p:ext uri="{BB962C8B-B14F-4D97-AF65-F5344CB8AC3E}">
        <p14:creationId xmlns:p14="http://schemas.microsoft.com/office/powerpoint/2010/main" val="912464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9B54A3-74DE-EAAE-1C7A-69C4EC184F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1A49D40-0ECF-4DD0-30BE-CBEE262E79D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a:spcBef>
                <a:spcPct val="0"/>
              </a:spcBef>
            </a:pPr>
            <a:r>
              <a:rPr lang="en-US" b="1" kern="1200">
                <a:solidFill>
                  <a:srgbClr val="FFFFFF"/>
                </a:solidFill>
                <a:latin typeface="+mj-lt"/>
                <a:ea typeface="+mj-ea"/>
                <a:cs typeface="+mj-cs"/>
              </a:rPr>
              <a:t>CONCLUSION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Subtitle 1">
            <a:extLst>
              <a:ext uri="{FF2B5EF4-FFF2-40B4-BE49-F238E27FC236}">
                <a16:creationId xmlns:a16="http://schemas.microsoft.com/office/drawing/2014/main" id="{7D4E059A-D35A-7FCA-5456-48E9246F42E0}"/>
              </a:ext>
            </a:extLst>
          </p:cNvPr>
          <p:cNvSpPr>
            <a:spLocks noGrp="1"/>
          </p:cNvSpPr>
          <p:nvPr>
            <p:ph type="subTitle" idx="1"/>
          </p:nvPr>
        </p:nvSpPr>
        <p:spPr>
          <a:xfrm>
            <a:off x="4447308" y="591344"/>
            <a:ext cx="6906491" cy="5585619"/>
          </a:xfrm>
        </p:spPr>
        <p:txBody>
          <a:bodyPr vert="horz" lIns="91440" tIns="45720" rIns="91440" bIns="45720" rtlCol="0" anchor="ctr">
            <a:normAutofit/>
          </a:bodyPr>
          <a:lstStyle/>
          <a:p>
            <a:pPr>
              <a:lnSpc>
                <a:spcPct val="90000"/>
              </a:lnSpc>
              <a:spcAft>
                <a:spcPts val="600"/>
              </a:spcAft>
              <a:buFont typeface="Arial" panose="020B0604020202020204" pitchFamily="34" charset="0"/>
              <a:buChar char="•"/>
            </a:pPr>
            <a:r>
              <a:rPr lang="en-US" dirty="0"/>
              <a:t>This project focused on forecasting </a:t>
            </a:r>
            <a:r>
              <a:rPr lang="en-US" b="1" dirty="0"/>
              <a:t>CO₂ emissions</a:t>
            </a:r>
            <a:r>
              <a:rPr lang="en-US" dirty="0"/>
              <a:t> from the </a:t>
            </a:r>
            <a:r>
              <a:rPr lang="en-US" b="1" dirty="0"/>
              <a:t>electric power sector</a:t>
            </a:r>
            <a:r>
              <a:rPr lang="en-US" dirty="0"/>
              <a:t> using both </a:t>
            </a:r>
            <a:r>
              <a:rPr lang="en-US" b="1" dirty="0"/>
              <a:t>machine learning</a:t>
            </a:r>
            <a:r>
              <a:rPr lang="en-US" dirty="0"/>
              <a:t> and </a:t>
            </a:r>
            <a:r>
              <a:rPr lang="en-US" b="1" dirty="0"/>
              <a:t>deep learning</a:t>
            </a:r>
            <a:r>
              <a:rPr lang="en-US" dirty="0"/>
              <a:t> techniques.</a:t>
            </a:r>
          </a:p>
          <a:p>
            <a:pPr>
              <a:lnSpc>
                <a:spcPct val="90000"/>
              </a:lnSpc>
              <a:spcAft>
                <a:spcPts val="600"/>
              </a:spcAft>
              <a:buFont typeface="Arial" panose="020B0604020202020204" pitchFamily="34" charset="0"/>
              <a:buChar char="•"/>
            </a:pPr>
            <a:r>
              <a:rPr lang="en-US" dirty="0"/>
              <a:t>We trained and evaluated several models, including:</a:t>
            </a:r>
          </a:p>
          <a:p>
            <a:pPr lvl="1">
              <a:lnSpc>
                <a:spcPct val="90000"/>
              </a:lnSpc>
              <a:spcAft>
                <a:spcPts val="600"/>
              </a:spcAft>
              <a:buFont typeface="Arial" panose="020B0604020202020204" pitchFamily="34" charset="0"/>
              <a:buChar char="•"/>
            </a:pPr>
            <a:r>
              <a:rPr lang="en-US" b="1" dirty="0"/>
              <a:t>Machine Learning Models:</a:t>
            </a:r>
            <a:r>
              <a:rPr lang="en-US" dirty="0"/>
              <a:t> Ridge Regression, Support Vector Machine (SVM), </a:t>
            </a:r>
            <a:r>
              <a:rPr lang="en-US" dirty="0" err="1"/>
              <a:t>XGBoost</a:t>
            </a:r>
            <a:r>
              <a:rPr lang="en-US" dirty="0"/>
              <a:t>, and </a:t>
            </a:r>
            <a:r>
              <a:rPr lang="en-US" dirty="0" err="1"/>
              <a:t>LightGBM</a:t>
            </a:r>
            <a:endParaRPr lang="en-US" dirty="0"/>
          </a:p>
          <a:p>
            <a:pPr lvl="1">
              <a:lnSpc>
                <a:spcPct val="90000"/>
              </a:lnSpc>
              <a:spcAft>
                <a:spcPts val="600"/>
              </a:spcAft>
              <a:buFont typeface="Arial" panose="020B0604020202020204" pitchFamily="34" charset="0"/>
              <a:buChar char="•"/>
            </a:pPr>
            <a:r>
              <a:rPr lang="en-US" b="1" dirty="0"/>
              <a:t>Deep Learning Model:</a:t>
            </a:r>
            <a:r>
              <a:rPr lang="en-US" dirty="0"/>
              <a:t> Long Short-Term Memory (LSTM)</a:t>
            </a:r>
          </a:p>
          <a:p>
            <a:pPr>
              <a:lnSpc>
                <a:spcPct val="90000"/>
              </a:lnSpc>
              <a:spcAft>
                <a:spcPts val="600"/>
              </a:spcAft>
              <a:buFont typeface="Arial" panose="020B0604020202020204" pitchFamily="34" charset="0"/>
              <a:buChar char="•"/>
            </a:pPr>
            <a:r>
              <a:rPr lang="en-US" dirty="0"/>
              <a:t>Each model was assessed using key evaluation metrics: </a:t>
            </a:r>
            <a:r>
              <a:rPr lang="en-US" b="1" dirty="0"/>
              <a:t>RMSE</a:t>
            </a:r>
            <a:r>
              <a:rPr lang="en-US" dirty="0"/>
              <a:t>, </a:t>
            </a:r>
            <a:r>
              <a:rPr lang="en-US" b="1" dirty="0"/>
              <a:t>R² Score</a:t>
            </a:r>
            <a:r>
              <a:rPr lang="en-US" dirty="0"/>
              <a:t>, and </a:t>
            </a:r>
            <a:r>
              <a:rPr lang="en-US" b="1" dirty="0"/>
              <a:t>MAE</a:t>
            </a:r>
            <a:r>
              <a:rPr lang="en-US" dirty="0"/>
              <a:t>.</a:t>
            </a:r>
          </a:p>
          <a:p>
            <a:pPr>
              <a:lnSpc>
                <a:spcPct val="90000"/>
              </a:lnSpc>
              <a:spcAft>
                <a:spcPts val="600"/>
              </a:spcAft>
              <a:buFont typeface="Arial" panose="020B0604020202020204" pitchFamily="34" charset="0"/>
              <a:buChar char="•"/>
            </a:pPr>
            <a:r>
              <a:rPr lang="en-US" dirty="0"/>
              <a:t>While deep learning showed promising results, particularly with LSTM capturing temporal dependencies, the </a:t>
            </a:r>
            <a:r>
              <a:rPr lang="en-US" b="1" dirty="0"/>
              <a:t>Support Vector Machine (SVM)</a:t>
            </a:r>
            <a:r>
              <a:rPr lang="en-US" dirty="0"/>
              <a:t> model outperformed others with the </a:t>
            </a:r>
            <a:r>
              <a:rPr lang="en-US" b="1" dirty="0"/>
              <a:t>highest accuracy and lowest error</a:t>
            </a:r>
            <a:r>
              <a:rPr lang="en-US" dirty="0"/>
              <a:t>.</a:t>
            </a:r>
          </a:p>
          <a:p>
            <a:pPr>
              <a:lnSpc>
                <a:spcPct val="90000"/>
              </a:lnSpc>
              <a:spcAft>
                <a:spcPts val="600"/>
              </a:spcAft>
              <a:buFont typeface="Arial" panose="020B0604020202020204" pitchFamily="34" charset="0"/>
              <a:buChar char="•"/>
            </a:pPr>
            <a:r>
              <a:rPr lang="en-US" dirty="0"/>
              <a:t>The results indicate that SVM is well-suited for handling complex, nonlinear relationships in emission data.</a:t>
            </a:r>
          </a:p>
          <a:p>
            <a:pPr>
              <a:lnSpc>
                <a:spcPct val="90000"/>
              </a:lnSpc>
              <a:spcAft>
                <a:spcPts val="600"/>
              </a:spcAft>
              <a:buFont typeface="Arial" panose="020B0604020202020204" pitchFamily="34" charset="0"/>
              <a:buChar char="•"/>
            </a:pPr>
            <a:r>
              <a:rPr lang="en-US" dirty="0"/>
              <a:t>These findings contribute to developing more accurate predictive tools for </a:t>
            </a:r>
            <a:r>
              <a:rPr lang="en-US" b="1" dirty="0"/>
              <a:t>climate analysis</a:t>
            </a:r>
            <a:r>
              <a:rPr lang="en-US" dirty="0"/>
              <a:t> and </a:t>
            </a:r>
            <a:r>
              <a:rPr lang="en-US" b="1" dirty="0"/>
              <a:t>energy policy planning</a:t>
            </a:r>
            <a:r>
              <a:rPr lang="en-US" dirty="0"/>
              <a:t>.</a:t>
            </a:r>
          </a:p>
          <a:p>
            <a:pPr marL="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14440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1404</Words>
  <Application>Microsoft Office PowerPoint</Application>
  <PresentationFormat>Widescreen</PresentationFormat>
  <Paragraphs>134</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Courier New</vt:lpstr>
      <vt:lpstr>Wingdings</vt:lpstr>
      <vt:lpstr>Office Theme</vt:lpstr>
      <vt:lpstr>CO2 emission prediction using machine and deep learning techniques</vt:lpstr>
      <vt:lpstr>ABSTRACT</vt:lpstr>
      <vt:lpstr>DATASET OVERVIEW</vt:lpstr>
      <vt:lpstr>OBJECTIVE</vt:lpstr>
      <vt:lpstr>METHODOLOGY</vt:lpstr>
      <vt:lpstr>PowerPoint Presentation</vt:lpstr>
      <vt:lpstr>RIDGE REGRESSION</vt:lpstr>
      <vt:lpstr>XG BOOST</vt:lpstr>
      <vt:lpstr>LIGHT GBM</vt:lpstr>
      <vt:lpstr>SVM(SUPPORT VECTOR MACHINE)</vt:lpstr>
      <vt:lpstr>LSTM MODEL</vt:lpstr>
      <vt:lpstr>PowerPoint Presentation</vt:lpstr>
      <vt:lpstr>PowerPoint Presentation</vt:lpstr>
      <vt:lpstr>PowerPoint Presentation</vt:lpstr>
      <vt:lpstr>PowerPoint Presentation</vt:lpstr>
      <vt:lpstr>REFERENCES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Tharappel Manas</dc:creator>
  <cp:lastModifiedBy>Subash B</cp:lastModifiedBy>
  <cp:revision>5</cp:revision>
  <dcterms:created xsi:type="dcterms:W3CDTF">2025-04-23T00:47:12Z</dcterms:created>
  <dcterms:modified xsi:type="dcterms:W3CDTF">2025-04-27T11:59:32Z</dcterms:modified>
</cp:coreProperties>
</file>